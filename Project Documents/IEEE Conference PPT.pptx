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2" r:id="rId1"/>
  </p:sldMasterIdLst>
  <p:notesMasterIdLst>
    <p:notesMasterId r:id="rId21"/>
  </p:notesMasterIdLst>
  <p:sldIdLst>
    <p:sldId id="256" r:id="rId2"/>
    <p:sldId id="262" r:id="rId3"/>
    <p:sldId id="281" r:id="rId4"/>
    <p:sldId id="266" r:id="rId5"/>
    <p:sldId id="268" r:id="rId6"/>
    <p:sldId id="280" r:id="rId7"/>
    <p:sldId id="279" r:id="rId8"/>
    <p:sldId id="264" r:id="rId9"/>
    <p:sldId id="278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65" r:id="rId20"/>
  </p:sldIdLst>
  <p:sldSz cx="18288000" cy="10287000"/>
  <p:notesSz cx="6858000" cy="9144000"/>
  <p:embeddedFontLst>
    <p:embeddedFont>
      <p:font typeface="Century Schoolbook" panose="02040604050505020304" pitchFamily="18" charset="0"/>
      <p:regular r:id="rId22"/>
      <p:bold r:id="rId23"/>
      <p:italic r:id="rId24"/>
      <p:boldItalic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Montserrat Bold" panose="020B0604020202020204" charset="0"/>
      <p:regular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  <p:embeddedFont>
      <p:font typeface="Telegraf" panose="020B0604020202020204" charset="0"/>
      <p:regular r:id="rId35"/>
    </p:embeddedFont>
    <p:embeddedFont>
      <p:font typeface="Telegraf Bold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F3C0E7-78E3-4419-82AE-FC0A264B9DD1}" v="219" dt="2026-01-29T19:08:59.577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22" autoAdjust="0"/>
  </p:normalViewPr>
  <p:slideViewPr>
    <p:cSldViewPr>
      <p:cViewPr varScale="1">
        <p:scale>
          <a:sx n="54" d="100"/>
          <a:sy n="54" d="100"/>
        </p:scale>
        <p:origin x="387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heme" Target="theme/theme1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D628A-ED82-460C-8B00-4897CAD3A981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2F11B-9526-496F-B439-F39702461B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157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94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758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01F41-60C4-DCA8-7238-A58AD692A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FD2D9-F4FF-50C3-2165-EFC2CC414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7DD2F0-7058-B202-3D5A-D0F941AF3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B2EC6-64BD-FCB0-7E69-D0C079CDFC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08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554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E421-4E2B-57E8-F44D-A853FE6D9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AE8414-731E-4F7B-012C-A7ED3F30C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60823-5301-CF1B-B59E-391FBF5C9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BF0D3-4EA5-36FA-A03F-2F20E3B9EE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719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47AFE-A161-0004-B9AE-93E1161B3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981A6-2B45-9084-B07B-26F212ECC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12284-2ECE-9658-FD4C-582792022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53DB5-B59B-04E8-4C6B-EFE27E508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970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C3A44-7FD3-53A6-742E-34C950718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8BC58-F251-277A-DD42-A798A8294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0BED5-1BC9-7C86-C1BF-58F2C8F9D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2DCA1-94C0-D1B8-200C-C114AED70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042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163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174F3-484A-93F6-A077-323DC4B56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2DE90-83A1-181F-D315-602E0EEB2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335B7-9168-23D3-AFF9-ADB87A1AA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CED0B-A095-B3AD-5469-099988AE50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3232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9EB9D-393B-3970-487A-DDEF496A6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B737A-EE3F-4129-060E-F44EAC841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2F84A-5FF0-CD4E-AC5B-95DE7A918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624D4-DF6A-6D0E-7F96-D1D79DC85E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083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37B00-3627-AEBA-4397-B3BA8A2CE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5A5EDA-F686-35C5-3377-D89A9EB42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F9D6D-1CA7-DF65-6D0A-353C45373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564E6-E550-511D-E614-669DDF6BA9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7261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99771-4BE2-1944-FFBC-8C7683BF6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B8C4B-013E-D6F3-F640-EE83A458C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881DB-3261-46C9-AA9D-728F91ACE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2435A-CBFD-3141-E1E1-3F92CDDA8B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566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D026A-D5F7-2EB3-68C9-507B1344E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5D509-C725-4750-8AEA-FB021E153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E8A1AC-CEA0-ED9B-11A6-E78664422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24D8F-537E-9356-9F63-C0CB0EF9A5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1824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9BB88-A3AC-9459-982B-1BDD4BC69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2F8F0-3420-05E8-E2BE-19F7863E7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DD81E-1540-CB58-C3A2-CEC02D1EC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A77C2-3EC3-DF74-3271-27A9269F9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879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722E5-B8C6-F09E-D7AA-525448860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A2B66-690D-2EF5-1DE2-4771A0FA9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955747-A6C3-D9E7-5DC0-DEF4A5F45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88B0D-105E-FB28-BDBB-4C930AAB76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132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E43B3-4038-E148-EE31-D42C19F11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8333C-8C94-6AF9-1BC3-B25157194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C0BAEF-134A-FC5C-EDCA-794060844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7C565-5289-4BA0-8431-B3A65A7FD9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599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99613-F5CD-D3EE-B67F-4326A7BA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DCD14-28D4-A3E3-C422-93B584E89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8C165-6C9B-FFEC-3C18-38F7E3A5A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E35EA-2D62-CBC6-0079-4F716C8D83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8030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6C5D2-A209-87ED-8B3E-F8267E2D8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D9DA6-23F0-EEBA-0804-B9DB4C3AC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2C46B4-D1BC-F13B-8694-550E26646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2668F-5CBA-8C11-F58B-A5D6CE2EEE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1987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2F11B-9526-496F-B439-F39702461B7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638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92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5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40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5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97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19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04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69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1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81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96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57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0249">
                <a:alpha val="100000"/>
              </a:srgbClr>
            </a:gs>
            <a:gs pos="100000">
              <a:srgbClr val="570A5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48EA235-D1DB-55CD-A686-AF3F8CC9A4A5}"/>
              </a:ext>
            </a:extLst>
          </p:cNvPr>
          <p:cNvSpPr/>
          <p:nvPr/>
        </p:nvSpPr>
        <p:spPr>
          <a:xfrm>
            <a:off x="-128826" y="-114300"/>
            <a:ext cx="18413505" cy="104103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8" name="Group 8"/>
          <p:cNvGrpSpPr/>
          <p:nvPr/>
        </p:nvGrpSpPr>
        <p:grpSpPr>
          <a:xfrm>
            <a:off x="-125505" y="1148195"/>
            <a:ext cx="12793710" cy="2436868"/>
            <a:chOff x="0" y="0"/>
            <a:chExt cx="3369537" cy="847852"/>
          </a:xfr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3369537" cy="847852"/>
            </a:xfrm>
            <a:custGeom>
              <a:avLst/>
              <a:gdLst/>
              <a:ahLst/>
              <a:cxnLst/>
              <a:rect l="l" t="t" r="r" b="b"/>
              <a:pathLst>
                <a:path w="3369537" h="847852">
                  <a:moveTo>
                    <a:pt x="0" y="0"/>
                  </a:moveTo>
                  <a:lnTo>
                    <a:pt x="3369537" y="0"/>
                  </a:lnTo>
                  <a:lnTo>
                    <a:pt x="3369537" y="847852"/>
                  </a:lnTo>
                  <a:lnTo>
                    <a:pt x="0" y="8478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3369537" cy="92405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997074" y="180809"/>
            <a:ext cx="675024" cy="607522"/>
          </a:xfrm>
          <a:custGeom>
            <a:avLst/>
            <a:gdLst/>
            <a:ahLst/>
            <a:cxnLst/>
            <a:rect l="l" t="t" r="r" b="b"/>
            <a:pathLst>
              <a:path w="675024" h="607522">
                <a:moveTo>
                  <a:pt x="0" y="0"/>
                </a:moveTo>
                <a:lnTo>
                  <a:pt x="675024" y="0"/>
                </a:lnTo>
                <a:lnTo>
                  <a:pt x="675024" y="607522"/>
                </a:lnTo>
                <a:lnTo>
                  <a:pt x="0" y="6075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12375523" y="929183"/>
            <a:ext cx="5899921" cy="9343711"/>
          </a:xfrm>
          <a:custGeom>
            <a:avLst/>
            <a:gdLst/>
            <a:ahLst/>
            <a:cxnLst/>
            <a:rect l="l" t="t" r="r" b="b"/>
            <a:pathLst>
              <a:path w="5899921" h="6772398">
                <a:moveTo>
                  <a:pt x="0" y="0"/>
                </a:moveTo>
                <a:lnTo>
                  <a:pt x="5899921" y="0"/>
                </a:lnTo>
                <a:lnTo>
                  <a:pt x="5899921" y="6772398"/>
                </a:lnTo>
                <a:lnTo>
                  <a:pt x="0" y="6772398"/>
                </a:lnTo>
                <a:lnTo>
                  <a:pt x="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 rot="5400000">
            <a:off x="9837000" y="-917621"/>
            <a:ext cx="353151" cy="2244949"/>
          </a:xfrm>
          <a:custGeom>
            <a:avLst/>
            <a:gdLst/>
            <a:ahLst/>
            <a:cxnLst/>
            <a:rect l="l" t="t" r="r" b="b"/>
            <a:pathLst>
              <a:path w="353151" h="2244949">
                <a:moveTo>
                  <a:pt x="0" y="0"/>
                </a:moveTo>
                <a:lnTo>
                  <a:pt x="353150" y="0"/>
                </a:lnTo>
                <a:lnTo>
                  <a:pt x="353150" y="2244949"/>
                </a:lnTo>
                <a:lnTo>
                  <a:pt x="0" y="22449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342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2971489" y="7027415"/>
            <a:ext cx="1532291" cy="1481356"/>
          </a:xfrm>
          <a:custGeom>
            <a:avLst/>
            <a:gdLst/>
            <a:ahLst/>
            <a:cxnLst/>
            <a:rect l="l" t="t" r="r" b="b"/>
            <a:pathLst>
              <a:path w="2299286" h="2407630">
                <a:moveTo>
                  <a:pt x="0" y="0"/>
                </a:moveTo>
                <a:lnTo>
                  <a:pt x="2299286" y="0"/>
                </a:lnTo>
                <a:lnTo>
                  <a:pt x="2299286" y="2407630"/>
                </a:lnTo>
                <a:lnTo>
                  <a:pt x="0" y="24076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15416267" y="245617"/>
            <a:ext cx="1740377" cy="896517"/>
          </a:xfrm>
          <a:custGeom>
            <a:avLst/>
            <a:gdLst/>
            <a:ahLst/>
            <a:cxnLst/>
            <a:rect l="l" t="t" r="r" b="b"/>
            <a:pathLst>
              <a:path w="2762099" h="1557695">
                <a:moveTo>
                  <a:pt x="0" y="0"/>
                </a:moveTo>
                <a:lnTo>
                  <a:pt x="2762099" y="0"/>
                </a:lnTo>
                <a:lnTo>
                  <a:pt x="2762099" y="1557695"/>
                </a:lnTo>
                <a:lnTo>
                  <a:pt x="0" y="15576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8281214" y="-1092836"/>
            <a:ext cx="12099851" cy="13057392"/>
            <a:chOff x="0" y="0"/>
            <a:chExt cx="47074671" cy="50800000"/>
          </a:xfrm>
          <a:solidFill>
            <a:srgbClr val="002060"/>
          </a:solidFill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074708" cy="50800000"/>
            </a:xfrm>
            <a:custGeom>
              <a:avLst/>
              <a:gdLst/>
              <a:ahLst/>
              <a:cxnLst/>
              <a:rect l="l" t="t" r="r" b="b"/>
              <a:pathLst>
                <a:path w="47074708" h="50800000">
                  <a:moveTo>
                    <a:pt x="15683612" y="0"/>
                  </a:moveTo>
                  <a:cubicBezTo>
                    <a:pt x="12605132" y="5101971"/>
                    <a:pt x="9509761" y="11165840"/>
                    <a:pt x="6869812" y="18181320"/>
                  </a:cubicBezTo>
                  <a:cubicBezTo>
                    <a:pt x="1950720" y="31262321"/>
                    <a:pt x="436880" y="42827829"/>
                    <a:pt x="0" y="50800000"/>
                  </a:cubicBezTo>
                  <a:lnTo>
                    <a:pt x="33748092" y="50800000"/>
                  </a:lnTo>
                  <a:cubicBezTo>
                    <a:pt x="32344361" y="48146590"/>
                    <a:pt x="27120345" y="37527613"/>
                    <a:pt x="30297121" y="24114761"/>
                  </a:cubicBezTo>
                  <a:cubicBezTo>
                    <a:pt x="33778571" y="9425051"/>
                    <a:pt x="44795439" y="2103120"/>
                    <a:pt x="47074708" y="656971"/>
                  </a:cubicBezTo>
                  <a:lnTo>
                    <a:pt x="47074708" y="0"/>
                  </a:lnTo>
                  <a:close/>
                </a:path>
              </a:pathLst>
            </a:custGeom>
            <a:grpFill/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14">
            <a:extLst>
              <a:ext uri="{FF2B5EF4-FFF2-40B4-BE49-F238E27FC236}">
                <a16:creationId xmlns:a16="http://schemas.microsoft.com/office/drawing/2014/main" id="{E3F34685-A98F-49DB-A7E3-66A3DBBD73F7}"/>
              </a:ext>
            </a:extLst>
          </p:cNvPr>
          <p:cNvGrpSpPr/>
          <p:nvPr/>
        </p:nvGrpSpPr>
        <p:grpSpPr>
          <a:xfrm>
            <a:off x="9363075" y="12392"/>
            <a:ext cx="8924925" cy="10274608"/>
            <a:chOff x="0" y="0"/>
            <a:chExt cx="43458647" cy="50030734"/>
          </a:xfrm>
        </p:grpSpPr>
        <p:sp>
          <p:nvSpPr>
            <p:cNvPr id="35" name="Freeform 15">
              <a:extLst>
                <a:ext uri="{FF2B5EF4-FFF2-40B4-BE49-F238E27FC236}">
                  <a16:creationId xmlns:a16="http://schemas.microsoft.com/office/drawing/2014/main" id="{6F4A60EA-903A-47B9-823E-7B859DCA0143}"/>
                </a:ext>
              </a:extLst>
            </p:cNvPr>
            <p:cNvSpPr/>
            <p:nvPr/>
          </p:nvSpPr>
          <p:spPr>
            <a:xfrm>
              <a:off x="0" y="0"/>
              <a:ext cx="43458684" cy="50030735"/>
            </a:xfrm>
            <a:custGeom>
              <a:avLst/>
              <a:gdLst/>
              <a:ahLst/>
              <a:cxnLst/>
              <a:rect l="l" t="t" r="r" b="b"/>
              <a:pathLst>
                <a:path w="43458684" h="50030735">
                  <a:moveTo>
                    <a:pt x="14478881" y="0"/>
                  </a:moveTo>
                  <a:cubicBezTo>
                    <a:pt x="11636873" y="5024712"/>
                    <a:pt x="8779272" y="10996756"/>
                    <a:pt x="6342109" y="17906000"/>
                  </a:cubicBezTo>
                  <a:cubicBezTo>
                    <a:pt x="1800876" y="30788914"/>
                    <a:pt x="403321" y="42179286"/>
                    <a:pt x="0" y="50030735"/>
                  </a:cubicBezTo>
                  <a:lnTo>
                    <a:pt x="31155745" y="50030735"/>
                  </a:lnTo>
                  <a:cubicBezTo>
                    <a:pt x="29859839" y="47417506"/>
                    <a:pt x="25037106" y="36959332"/>
                    <a:pt x="27969859" y="23749591"/>
                  </a:cubicBezTo>
                  <a:cubicBezTo>
                    <a:pt x="31183883" y="9282327"/>
                    <a:pt x="41354493" y="2071272"/>
                    <a:pt x="43458684" y="647022"/>
                  </a:cubicBezTo>
                  <a:lnTo>
                    <a:pt x="43458684" y="0"/>
                  </a:lnTo>
                  <a:close/>
                </a:path>
              </a:pathLst>
            </a:custGeom>
            <a:blipFill>
              <a:blip r:embed="rId9"/>
              <a:stretch>
                <a:fillRect l="-36166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19504" y="114300"/>
            <a:ext cx="6136971" cy="674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latin typeface="Telegraf"/>
                <a:ea typeface="Telegraf"/>
                <a:cs typeface="Telegraf"/>
                <a:sym typeface="Telegraf"/>
              </a:rPr>
              <a:t>IC3ECSBHI 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0813" y="1200147"/>
            <a:ext cx="9785886" cy="2114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8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  <a:r>
              <a:rPr lang="en-US" sz="2800" b="1" baseline="30000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nd</a:t>
            </a:r>
            <a:r>
              <a:rPr lang="en-US" sz="28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IEEE International Conference on </a:t>
            </a:r>
          </a:p>
          <a:p>
            <a:pPr algn="ctr">
              <a:lnSpc>
                <a:spcPts val="4152"/>
              </a:lnSpc>
            </a:pPr>
            <a:r>
              <a:rPr lang="en-US" sz="28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Cognitive Computing in Engineering, Communications, Sciences and Biomedical Health Informatics</a:t>
            </a:r>
          </a:p>
          <a:p>
            <a:pPr algn="ctr">
              <a:lnSpc>
                <a:spcPts val="4152"/>
              </a:lnSpc>
            </a:pPr>
            <a:r>
              <a:rPr lang="en-US" sz="24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February 12-14, 2026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71282" y="4842131"/>
            <a:ext cx="7791792" cy="3043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40"/>
              </a:lnSpc>
              <a:spcBef>
                <a:spcPct val="0"/>
              </a:spcBef>
            </a:pPr>
            <a:r>
              <a:rPr lang="en-US" sz="2800" b="1" dirty="0">
                <a:latin typeface="Telegraf Bold" panose="020B0604020202020204" charset="0"/>
                <a:ea typeface="Montserrat Bold"/>
                <a:cs typeface="Montserrat Bold"/>
                <a:sym typeface="Montserrat Bold"/>
              </a:rPr>
              <a:t>PAPER TITLE : </a:t>
            </a:r>
            <a:r>
              <a:rPr lang="en-US" sz="2800" b="1" dirty="0">
                <a:latin typeface="Telegraf Bold" panose="020B0604020202020204" charset="0"/>
              </a:rPr>
              <a:t>Development of E-Portal for Case Management Hearing and Facilitation of Legal Proceedings</a:t>
            </a:r>
            <a:endParaRPr lang="en-IN" sz="2800" b="1" dirty="0">
              <a:latin typeface="Telegraf Bold" panose="020B0604020202020204" charset="0"/>
            </a:endParaRPr>
          </a:p>
          <a:p>
            <a:pPr algn="l">
              <a:lnSpc>
                <a:spcPts val="5940"/>
              </a:lnSpc>
              <a:spcBef>
                <a:spcPct val="0"/>
              </a:spcBef>
            </a:pPr>
            <a:r>
              <a:rPr lang="en-US" sz="2800" b="1" dirty="0">
                <a:latin typeface="Telegraf Bold" panose="020B0604020202020204" charset="0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71282" y="4171952"/>
            <a:ext cx="8106118" cy="498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99"/>
              </a:lnSpc>
              <a:spcBef>
                <a:spcPct val="0"/>
              </a:spcBef>
            </a:pPr>
            <a:r>
              <a:rPr lang="en-US" sz="2800" dirty="0">
                <a:latin typeface="Telegraf Bold" panose="020B0604020202020204" charset="0"/>
                <a:ea typeface="Telegraf"/>
                <a:cs typeface="Telegraf"/>
                <a:sym typeface="Telegraf"/>
              </a:rPr>
              <a:t>PAPER ID : 2014 </a:t>
            </a:r>
            <a:r>
              <a:rPr lang="en-US" sz="2800" b="1" dirty="0">
                <a:latin typeface="Telegraf Bold" panose="020B0604020202020204" charset="0"/>
              </a:rPr>
              <a:t>­</a:t>
            </a:r>
            <a:endParaRPr lang="en-US" sz="2800" dirty="0">
              <a:latin typeface="Telegraf Bold" panose="020B0604020202020204" charset="0"/>
              <a:ea typeface="Telegraf"/>
              <a:cs typeface="Telegraf"/>
              <a:sym typeface="Telegraf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0" y="8517821"/>
            <a:ext cx="18288000" cy="1778229"/>
            <a:chOff x="0" y="0"/>
            <a:chExt cx="3720066" cy="4683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20066" cy="468340"/>
            </a:xfrm>
            <a:custGeom>
              <a:avLst/>
              <a:gdLst/>
              <a:ahLst/>
              <a:cxnLst/>
              <a:rect l="l" t="t" r="r" b="b"/>
              <a:pathLst>
                <a:path w="3720066" h="468340">
                  <a:moveTo>
                    <a:pt x="0" y="0"/>
                  </a:moveTo>
                  <a:lnTo>
                    <a:pt x="3720066" y="0"/>
                  </a:lnTo>
                  <a:lnTo>
                    <a:pt x="3720066" y="468340"/>
                  </a:lnTo>
                  <a:lnTo>
                    <a:pt x="0" y="468340"/>
                  </a:lnTo>
                  <a:close/>
                </a:path>
              </a:pathLst>
            </a:cu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3720066" cy="544540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40CD084E-38A0-4315-AA6B-9D87B25F815E}"/>
              </a:ext>
            </a:extLst>
          </p:cNvPr>
          <p:cNvGrpSpPr/>
          <p:nvPr/>
        </p:nvGrpSpPr>
        <p:grpSpPr>
          <a:xfrm>
            <a:off x="-125505" y="8671137"/>
            <a:ext cx="9067800" cy="1778229"/>
            <a:chOff x="0" y="0"/>
            <a:chExt cx="3720066" cy="468340"/>
          </a:xfr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</p:grpSpPr>
        <p:sp>
          <p:nvSpPr>
            <p:cNvPr id="33" name="Freeform 3">
              <a:extLst>
                <a:ext uri="{FF2B5EF4-FFF2-40B4-BE49-F238E27FC236}">
                  <a16:creationId xmlns:a16="http://schemas.microsoft.com/office/drawing/2014/main" id="{60E283B8-0DA5-4C2D-A85C-14451D8784B1}"/>
                </a:ext>
              </a:extLst>
            </p:cNvPr>
            <p:cNvSpPr/>
            <p:nvPr/>
          </p:nvSpPr>
          <p:spPr>
            <a:xfrm>
              <a:off x="0" y="0"/>
              <a:ext cx="3720066" cy="468340"/>
            </a:xfrm>
            <a:custGeom>
              <a:avLst/>
              <a:gdLst/>
              <a:ahLst/>
              <a:cxnLst/>
              <a:rect l="l" t="t" r="r" b="b"/>
              <a:pathLst>
                <a:path w="3720066" h="468340">
                  <a:moveTo>
                    <a:pt x="0" y="0"/>
                  </a:moveTo>
                  <a:lnTo>
                    <a:pt x="3720066" y="0"/>
                  </a:lnTo>
                  <a:lnTo>
                    <a:pt x="3720066" y="468340"/>
                  </a:lnTo>
                  <a:lnTo>
                    <a:pt x="0" y="46834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4">
              <a:extLst>
                <a:ext uri="{FF2B5EF4-FFF2-40B4-BE49-F238E27FC236}">
                  <a16:creationId xmlns:a16="http://schemas.microsoft.com/office/drawing/2014/main" id="{E6C2CFCF-4BE2-4FB0-8343-1579F83AE512}"/>
                </a:ext>
              </a:extLst>
            </p:cNvPr>
            <p:cNvSpPr txBox="1"/>
            <p:nvPr/>
          </p:nvSpPr>
          <p:spPr>
            <a:xfrm>
              <a:off x="0" y="-76200"/>
              <a:ext cx="3720066" cy="54454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31" name="TextBox 29">
            <a:extLst>
              <a:ext uri="{FF2B5EF4-FFF2-40B4-BE49-F238E27FC236}">
                <a16:creationId xmlns:a16="http://schemas.microsoft.com/office/drawing/2014/main" id="{3E0683CF-D8B9-498D-893E-FE8876E521CF}"/>
              </a:ext>
            </a:extLst>
          </p:cNvPr>
          <p:cNvSpPr txBox="1"/>
          <p:nvPr/>
        </p:nvSpPr>
        <p:spPr>
          <a:xfrm>
            <a:off x="8813764" y="8624678"/>
            <a:ext cx="9847742" cy="1500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14"/>
              </a:lnSpc>
            </a:pPr>
            <a:r>
              <a:rPr lang="en-US" sz="20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ORGANIZED BY:</a:t>
            </a:r>
          </a:p>
          <a:p>
            <a:pPr algn="ctr">
              <a:lnSpc>
                <a:spcPts val="920"/>
              </a:lnSpc>
            </a:pPr>
            <a:endParaRPr lang="en-US" sz="2000" b="1" dirty="0">
              <a:solidFill>
                <a:srgbClr val="FFFFFF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algn="ctr">
              <a:lnSpc>
                <a:spcPts val="3971"/>
              </a:lnSpc>
            </a:pPr>
            <a:r>
              <a:rPr lang="en-US" sz="32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School of Engineering,</a:t>
            </a:r>
          </a:p>
          <a:p>
            <a:pPr algn="ctr">
              <a:lnSpc>
                <a:spcPts val="3971"/>
              </a:lnSpc>
            </a:pPr>
            <a:r>
              <a:rPr lang="en-US" sz="32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Gautam Buddha University, Gr. Noida, India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-8" y="8381815"/>
            <a:ext cx="9345715" cy="2147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Author(s) : Aaditiya Tyagi, Akshat Jain, Akash Tiwari, Ankit Chaudhary, Anmol Jain</a:t>
            </a:r>
          </a:p>
          <a:p>
            <a:pPr>
              <a:lnSpc>
                <a:spcPts val="3359"/>
              </a:lnSpc>
            </a:pPr>
            <a:r>
              <a:rPr lang="en-US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Affiliation : </a:t>
            </a:r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Krishna Institute of Engineering &amp; Technology (KIET),</a:t>
            </a:r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Ghaziabad, Delhi-NCR, Uttar Pradesh, India</a:t>
            </a:r>
            <a:endParaRPr lang="en-IN" sz="24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977CDC-3F2D-4A76-B85F-F26569531329}"/>
              </a:ext>
            </a:extLst>
          </p:cNvPr>
          <p:cNvSpPr txBox="1"/>
          <p:nvPr/>
        </p:nvSpPr>
        <p:spPr>
          <a:xfrm>
            <a:off x="76200" y="3525690"/>
            <a:ext cx="9601200" cy="474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IN" sz="2000" b="1" i="0" dirty="0">
                <a:effectLst/>
                <a:latin typeface="Poppins" panose="00000500000000000000" pitchFamily="2" charset="0"/>
              </a:rPr>
              <a:t>Copyright: 979-8-3315-5691-4/26/$31.00 ©2026 IEEE</a:t>
            </a:r>
            <a:endParaRPr lang="en-US" sz="2000" dirty="0">
              <a:latin typeface="Telegraf Bold" panose="020B0604020202020204" charset="0"/>
              <a:ea typeface="Telegraf"/>
              <a:cs typeface="Telegraf"/>
              <a:sym typeface="Telegraf"/>
            </a:endParaRPr>
          </a:p>
        </p:txBody>
      </p:sp>
      <p:sp>
        <p:nvSpPr>
          <p:cNvPr id="36" name="Freeform 20">
            <a:extLst>
              <a:ext uri="{FF2B5EF4-FFF2-40B4-BE49-F238E27FC236}">
                <a16:creationId xmlns:a16="http://schemas.microsoft.com/office/drawing/2014/main" id="{37E8282C-8BD8-492A-8414-B2A49C73492D}"/>
              </a:ext>
            </a:extLst>
          </p:cNvPr>
          <p:cNvSpPr/>
          <p:nvPr/>
        </p:nvSpPr>
        <p:spPr>
          <a:xfrm>
            <a:off x="12798138" y="7159986"/>
            <a:ext cx="1705646" cy="1488714"/>
          </a:xfrm>
          <a:custGeom>
            <a:avLst/>
            <a:gdLst/>
            <a:ahLst/>
            <a:cxnLst/>
            <a:rect l="l" t="t" r="r" b="b"/>
            <a:pathLst>
              <a:path w="2299286" h="2407630">
                <a:moveTo>
                  <a:pt x="0" y="0"/>
                </a:moveTo>
                <a:lnTo>
                  <a:pt x="2299286" y="0"/>
                </a:lnTo>
                <a:lnTo>
                  <a:pt x="2299286" y="2407630"/>
                </a:lnTo>
                <a:lnTo>
                  <a:pt x="0" y="24076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49D1E2-E8A6-4DBC-A29C-7128DE54C7F0}"/>
              </a:ext>
            </a:extLst>
          </p:cNvPr>
          <p:cNvGrpSpPr/>
          <p:nvPr/>
        </p:nvGrpSpPr>
        <p:grpSpPr>
          <a:xfrm>
            <a:off x="12912517" y="266700"/>
            <a:ext cx="2860883" cy="1307712"/>
            <a:chOff x="11122685" y="8571630"/>
            <a:chExt cx="4185971" cy="1440119"/>
          </a:xfrm>
        </p:grpSpPr>
        <p:sp>
          <p:nvSpPr>
            <p:cNvPr id="39" name="Freeform 22">
              <a:extLst>
                <a:ext uri="{FF2B5EF4-FFF2-40B4-BE49-F238E27FC236}">
                  <a16:creationId xmlns:a16="http://schemas.microsoft.com/office/drawing/2014/main" id="{3D7F3A5C-28FA-471E-93A1-FCDF8466D7EC}"/>
                </a:ext>
              </a:extLst>
            </p:cNvPr>
            <p:cNvSpPr/>
            <p:nvPr/>
          </p:nvSpPr>
          <p:spPr>
            <a:xfrm>
              <a:off x="12685966" y="8571630"/>
              <a:ext cx="2622690" cy="1440119"/>
            </a:xfrm>
            <a:custGeom>
              <a:avLst/>
              <a:gdLst/>
              <a:ahLst/>
              <a:cxnLst/>
              <a:rect l="l" t="t" r="r" b="b"/>
              <a:pathLst>
                <a:path w="2622691" h="1440119">
                  <a:moveTo>
                    <a:pt x="0" y="0"/>
                  </a:moveTo>
                  <a:lnTo>
                    <a:pt x="2622691" y="0"/>
                  </a:lnTo>
                  <a:lnTo>
                    <a:pt x="2622691" y="1440118"/>
                  </a:lnTo>
                  <a:lnTo>
                    <a:pt x="0" y="1440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57626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0" name="Freeform 23">
              <a:extLst>
                <a:ext uri="{FF2B5EF4-FFF2-40B4-BE49-F238E27FC236}">
                  <a16:creationId xmlns:a16="http://schemas.microsoft.com/office/drawing/2014/main" id="{C9794DA7-E7EE-4FBA-BFE4-47A0E86DE0C7}"/>
                </a:ext>
              </a:extLst>
            </p:cNvPr>
            <p:cNvSpPr/>
            <p:nvPr/>
          </p:nvSpPr>
          <p:spPr>
            <a:xfrm>
              <a:off x="11122685" y="8622564"/>
              <a:ext cx="1265391" cy="1228230"/>
            </a:xfrm>
            <a:custGeom>
              <a:avLst/>
              <a:gdLst/>
              <a:ahLst/>
              <a:cxnLst/>
              <a:rect l="l" t="t" r="r" b="b"/>
              <a:pathLst>
                <a:path w="1265392" h="1228230">
                  <a:moveTo>
                    <a:pt x="0" y="0"/>
                  </a:moveTo>
                  <a:lnTo>
                    <a:pt x="1265393" y="0"/>
                  </a:lnTo>
                  <a:lnTo>
                    <a:pt x="1265393" y="1228230"/>
                  </a:lnTo>
                  <a:lnTo>
                    <a:pt x="0" y="1228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-2316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B85FA685-A75E-4F3B-B80D-C22DFADFFDC0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lvl="3" algn="r">
              <a:lnSpc>
                <a:spcPts val="3220"/>
              </a:lnSpc>
            </a:pPr>
            <a:endParaRPr sz="24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42661201-4BFD-4855-85F2-00291465ADC8}"/>
              </a:ext>
            </a:extLst>
          </p:cNvPr>
          <p:cNvGrpSpPr/>
          <p:nvPr/>
        </p:nvGrpSpPr>
        <p:grpSpPr>
          <a:xfrm>
            <a:off x="219415" y="615206"/>
            <a:ext cx="17839985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4E30FD43-EAEA-4CBE-BA5F-60A2E5344831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433005B2-45FF-412D-9F4A-B3B9944F169E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F3A67949-19A8-4EEC-AC2E-3237C5579EB1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835472C3-FCAE-447E-BE13-E5093B367B42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6084D578-3175-4F87-8A89-98D4E40190D3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7BADACFF-0115-4233-8374-D5916AB2EDF5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7FABE79F-67A2-4303-B71C-9DEF1F606E45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2DB7820C-D1CE-456A-AC35-DE3C6D8EDC90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36155CC-BEE4-41B5-8B41-55840F2DCD35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1" name="TextBox 17">
            <a:extLst>
              <a:ext uri="{FF2B5EF4-FFF2-40B4-BE49-F238E27FC236}">
                <a16:creationId xmlns:a16="http://schemas.microsoft.com/office/drawing/2014/main" id="{5496B3BE-546A-4429-B2FD-FB8159E3EF4C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 Aaditiya Tyagi                            Paper ID : 2014</a:t>
            </a:r>
          </a:p>
        </p:txBody>
      </p:sp>
      <p:sp>
        <p:nvSpPr>
          <p:cNvPr id="32" name="TextBox 16">
            <a:extLst>
              <a:ext uri="{FF2B5EF4-FFF2-40B4-BE49-F238E27FC236}">
                <a16:creationId xmlns:a16="http://schemas.microsoft.com/office/drawing/2014/main" id="{506FB363-85E8-41E3-8491-A6B4112A9D38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2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C998A3AC-2685-40BB-A52E-51F07FBC1AC2}"/>
              </a:ext>
            </a:extLst>
          </p:cNvPr>
          <p:cNvSpPr txBox="1"/>
          <p:nvPr/>
        </p:nvSpPr>
        <p:spPr>
          <a:xfrm>
            <a:off x="609600" y="668484"/>
            <a:ext cx="4495800" cy="854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CA8921-8696-867F-46F8-DFA54214443A}"/>
              </a:ext>
            </a:extLst>
          </p:cNvPr>
          <p:cNvSpPr txBox="1"/>
          <p:nvPr/>
        </p:nvSpPr>
        <p:spPr>
          <a:xfrm>
            <a:off x="13722511" y="934314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A73A31-7120-01DF-FF61-9C397CC986D3}"/>
              </a:ext>
            </a:extLst>
          </p:cNvPr>
          <p:cNvSpPr txBox="1"/>
          <p:nvPr/>
        </p:nvSpPr>
        <p:spPr>
          <a:xfrm>
            <a:off x="609600" y="2476500"/>
            <a:ext cx="17087896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– Background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– Research Problem</a:t>
            </a:r>
          </a:p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– Global Context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– Research Gaps</a:t>
            </a:r>
          </a:p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– System Architecture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– Key Algorithmic Workflows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– Evaluation Design</a:t>
            </a:r>
          </a:p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– Tools and Technologies</a:t>
            </a:r>
          </a:p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Performance Metrics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Comparative Analysis</a:t>
            </a:r>
          </a:p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– User Feedback and Usability</a:t>
            </a:r>
          </a:p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and Acknowledgements</a:t>
            </a:r>
          </a:p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DBC1B-CFBC-1A31-FB8F-CC9C32F77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798915EF-9C81-893A-B8C5-CB69BF2CA510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BC6C6554-E24D-E095-A9F6-3045D87B084C}"/>
              </a:ext>
            </a:extLst>
          </p:cNvPr>
          <p:cNvGrpSpPr/>
          <p:nvPr/>
        </p:nvGrpSpPr>
        <p:grpSpPr>
          <a:xfrm>
            <a:off x="219415" y="380513"/>
            <a:ext cx="17839985" cy="1486387"/>
            <a:chOff x="0" y="-76200"/>
            <a:chExt cx="3730359" cy="4826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49A5CF3C-1DE0-8D06-F3B7-64446C37A5C4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A33F0B93-679C-95EE-E32A-6AA2A5E3B066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 dirty="0"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0CCC46F7-BF0E-4140-6263-DB112EFFCBE6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3E291E81-ED88-8203-29B8-07552019A225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E8B67086-2421-4486-D732-1C3ABB8AD2E0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10198800-1CCC-9616-4771-A2F93856F8EF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CF88BAF4-00B4-D865-C10B-8EC3F0CFDA70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164DF233-F744-6165-412E-11C1D53B4074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8FAD915F-2587-298F-582C-0BC14DEF4C2C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DB78E626-B272-821F-DDAD-D1944211BAC5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3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FB12D8F6-76C8-14F6-0526-216B9CDCFC46}"/>
              </a:ext>
            </a:extLst>
          </p:cNvPr>
          <p:cNvSpPr txBox="1"/>
          <p:nvPr/>
        </p:nvSpPr>
        <p:spPr>
          <a:xfrm>
            <a:off x="609600" y="668485"/>
            <a:ext cx="14173200" cy="1729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 - BACKGROUND </a:t>
            </a:r>
          </a:p>
          <a:p>
            <a:pPr>
              <a:lnSpc>
                <a:spcPts val="7000"/>
              </a:lnSpc>
              <a:spcBef>
                <a:spcPct val="0"/>
              </a:spcBef>
            </a:pPr>
            <a:endParaRPr lang="en-US" sz="5000" b="1" dirty="0">
              <a:solidFill>
                <a:schemeClr val="bg1"/>
              </a:solidFill>
              <a:latin typeface="Montserrat Bold" panose="020B0604020202020204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C2B014-7CB0-A4B8-10B7-61AEF011AC11}"/>
              </a:ext>
            </a:extLst>
          </p:cNvPr>
          <p:cNvSpPr txBox="1"/>
          <p:nvPr/>
        </p:nvSpPr>
        <p:spPr>
          <a:xfrm>
            <a:off x="13722511" y="934314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848542D6-F4D0-DD11-1618-26BFCE90155D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Aaditiya Tyagi                              Paper ID : 2014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8BDCA04-4A66-8B88-80F9-CF2FCF81774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64181" y="6676535"/>
            <a:ext cx="155456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84DCED2-63C7-4D5E-CC6E-BF72F80D7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18" y="2298423"/>
            <a:ext cx="17097082" cy="7337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5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 current challenges and the need for a role-based platform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Judicial systems in India continue to struggle with case backlogs and procedural delays due to reliance on manual and semi-digital workflows.</a:t>
            </a:r>
          </a:p>
          <a:p>
            <a:pPr marL="342900" indent="-342900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digital initiatives exist, but they operate in isolation and do not support end-to-end judicial processes.</a:t>
            </a:r>
          </a:p>
          <a:p>
            <a:pPr marL="342900" indent="-342900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such as judges, advocates, litigants, and court staff lack a unified platform for coordinated case handling.</a:t>
            </a:r>
          </a:p>
          <a:p>
            <a:pPr marL="342900" indent="-342900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limitations highlight the need for a secure, centralized, role-based e-court platform capable of supporting complete judicial workflows.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03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B85FA685-A75E-4F3B-B80D-C22DFADFFDC0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42661201-4BFD-4855-85F2-00291465ADC8}"/>
              </a:ext>
            </a:extLst>
          </p:cNvPr>
          <p:cNvGrpSpPr/>
          <p:nvPr/>
        </p:nvGrpSpPr>
        <p:grpSpPr>
          <a:xfrm>
            <a:off x="219415" y="615206"/>
            <a:ext cx="17839985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4E30FD43-EAEA-4CBE-BA5F-60A2E5344831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433005B2-45FF-412D-9F4A-B3B9944F169E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 dirty="0"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F3A67949-19A8-4EEC-AC2E-3237C5579EB1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835472C3-FCAE-447E-BE13-E5093B367B42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6084D578-3175-4F87-8A89-98D4E40190D3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7BADACFF-0115-4233-8374-D5916AB2EDF5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7FABE79F-67A2-4303-B71C-9DEF1F606E45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2DB7820C-D1CE-456A-AC35-DE3C6D8EDC90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36155CC-BEE4-41B5-8B41-55840F2DCD35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506FB363-85E8-41E3-8491-A6B4112A9D38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4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C998A3AC-2685-40BB-A52E-51F07FBC1AC2}"/>
              </a:ext>
            </a:extLst>
          </p:cNvPr>
          <p:cNvSpPr txBox="1"/>
          <p:nvPr/>
        </p:nvSpPr>
        <p:spPr>
          <a:xfrm>
            <a:off x="609600" y="668485"/>
            <a:ext cx="17373600" cy="830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IN" sz="5000" b="1" dirty="0">
                <a:solidFill>
                  <a:schemeClr val="bg1"/>
                </a:solidFill>
                <a:latin typeface="Montserrat Bold" panose="020B0604020202020204" charset="0"/>
              </a:rPr>
              <a:t>INTRODUCTION – RESEARCH PROBLEM</a:t>
            </a:r>
            <a:endParaRPr lang="en-US" sz="5000" b="1" dirty="0">
              <a:solidFill>
                <a:schemeClr val="bg1"/>
              </a:solidFill>
              <a:latin typeface="Montserrat Bold" panose="020B0604020202020204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4D596B-6F7F-E4DF-8A0B-C838D4C91E87}"/>
              </a:ext>
            </a:extLst>
          </p:cNvPr>
          <p:cNvSpPr txBox="1"/>
          <p:nvPr/>
        </p:nvSpPr>
        <p:spPr>
          <a:xfrm>
            <a:off x="13722511" y="934314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8CA7D6DE-4853-5D36-910F-5A6B5F7B723A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Aaditiya Tyagi                              Paper ID : 2014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05E4EBA-99A0-E3E6-296A-124678A12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870435"/>
            <a:ext cx="17068800" cy="627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300000"/>
              </a:lnSpc>
            </a:pPr>
            <a:r>
              <a:rPr lang="en-US" sz="3200" b="1" dirty="0"/>
              <a:t>Examining manual inefficiencies, functional gaps, and security concerns</a:t>
            </a:r>
            <a:endParaRPr lang="en-US" sz="3200" dirty="0"/>
          </a:p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case filing and hearing scheduling lead to delays, duplication of work, and human error.</a:t>
            </a:r>
          </a:p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e-court systems focus primarily on implementation rather than performance validation.</a:t>
            </a:r>
          </a:p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strict role-based access exposes sensitive judicial data to unauthorized access.</a:t>
            </a:r>
          </a:p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empirical metrics makes it difficult to assess efficiency improvements or user satisfaction.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29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E1D6C-20FF-C9F0-F7FD-A86F9E254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0126CCD3-C8D4-AEF5-FB6E-89E127BD7F48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D5DF1B3C-4277-08F6-E436-ABB0EE1701DC}"/>
              </a:ext>
            </a:extLst>
          </p:cNvPr>
          <p:cNvGrpSpPr/>
          <p:nvPr/>
        </p:nvGrpSpPr>
        <p:grpSpPr>
          <a:xfrm>
            <a:off x="219415" y="615206"/>
            <a:ext cx="17839985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87D43DB3-2C1B-BE29-428D-CD09B8181500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2D0D0FEB-A5C9-9A84-1891-77F75BDA7422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7A588D68-DC62-899D-833F-3603B583B967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DF9634D0-9983-AD0D-A4EF-8A517D3979C9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07959C8A-7A29-544C-8F89-F2B0C2383999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91869E35-2DD1-43E9-085C-C72ACCEF91AC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BF896F45-BED3-AEBE-3717-671647DFAD3F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ABD83A9C-9742-74E5-1A32-EF04E48825A5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177EEA81-C24E-C252-4D16-9C988E4B8D07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02BA0D4A-3050-3A59-1523-A7207C902DEE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5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DCED3B2F-C189-2CB9-7B8C-12A77C5B4DCF}"/>
              </a:ext>
            </a:extLst>
          </p:cNvPr>
          <p:cNvSpPr txBox="1"/>
          <p:nvPr/>
        </p:nvSpPr>
        <p:spPr>
          <a:xfrm>
            <a:off x="609600" y="668485"/>
            <a:ext cx="13321304" cy="1729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IN" sz="5000" b="1" dirty="0">
                <a:solidFill>
                  <a:schemeClr val="bg1"/>
                </a:solidFill>
                <a:latin typeface="Montserrat Bold" panose="020B0604020202020204" charset="0"/>
              </a:rPr>
              <a:t>OBJECTIVES</a:t>
            </a:r>
          </a:p>
          <a:p>
            <a:pPr>
              <a:lnSpc>
                <a:spcPts val="7000"/>
              </a:lnSpc>
              <a:spcBef>
                <a:spcPct val="0"/>
              </a:spcBef>
            </a:pPr>
            <a:endParaRPr lang="en-US" sz="5000" b="1" dirty="0">
              <a:solidFill>
                <a:schemeClr val="bg1"/>
              </a:solidFill>
              <a:latin typeface="Montserrat Bold" panose="020B0604020202020204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3B8E89-DD8D-3C8A-069E-E467CD9F7932}"/>
              </a:ext>
            </a:extLst>
          </p:cNvPr>
          <p:cNvSpPr txBox="1"/>
          <p:nvPr/>
        </p:nvSpPr>
        <p:spPr>
          <a:xfrm>
            <a:off x="13722511" y="934314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1260AC4D-2361-500B-54F6-D7B10F2B9CCC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Aaditiya Tyagi                              Paper ID : 2014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376B094-7CBE-7F1D-4664-5AECAA8E9EE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09599" y="1879368"/>
            <a:ext cx="17087895" cy="296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300000"/>
              </a:lnSpc>
              <a:spcBef>
                <a:spcPct val="0"/>
              </a:spcBef>
              <a:spcAft>
                <a:spcPts val="80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the goals for design, efficiency, assessment, and usability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ts val="8000"/>
              </a:spcAft>
              <a:buFont typeface="Wingdings" panose="05000000000000000000" pitchFamily="2" charset="2"/>
              <a:buChar char="Ø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16CDC6C-C104-9764-0738-B2B4FC1A4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671199"/>
              </p:ext>
            </p:extLst>
          </p:nvPr>
        </p:nvGraphicFramePr>
        <p:xfrm>
          <a:off x="609600" y="3390900"/>
          <a:ext cx="16992600" cy="501673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8486421">
                  <a:extLst>
                    <a:ext uri="{9D8B030D-6E8A-4147-A177-3AD203B41FA5}">
                      <a16:colId xmlns:a16="http://schemas.microsoft.com/office/drawing/2014/main" val="101510733"/>
                    </a:ext>
                  </a:extLst>
                </a:gridCol>
                <a:gridCol w="8506179">
                  <a:extLst>
                    <a:ext uri="{9D8B030D-6E8A-4147-A177-3AD203B41FA5}">
                      <a16:colId xmlns:a16="http://schemas.microsoft.com/office/drawing/2014/main" val="1649992075"/>
                    </a:ext>
                  </a:extLst>
                </a:gridCol>
              </a:tblGrid>
              <a:tr h="92541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2600550"/>
                  </a:ext>
                </a:extLst>
              </a:tr>
              <a:tr h="13150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 role-based e-court portal for case filing, scheduling, document handling, and virtual hearings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029107"/>
                  </a:ext>
                </a:extLst>
              </a:tr>
              <a:tr h="13150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 response time, scheduling efficiency, and system 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7523011"/>
                  </a:ext>
                </a:extLst>
              </a:tr>
              <a:tr h="7305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 ease of use and satisfaction among judicial stakeholders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2159296"/>
                  </a:ext>
                </a:extLst>
              </a:tr>
              <a:tr h="7305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 improvements over existing e-court platforms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2182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007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5C0B1-DF6F-DCED-730A-20511AEA7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169C91DF-C4A9-18BE-7147-8F907D1896B4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6931E33A-63C6-CBAF-5140-B9F4501C9B93}"/>
              </a:ext>
            </a:extLst>
          </p:cNvPr>
          <p:cNvGrpSpPr/>
          <p:nvPr/>
        </p:nvGrpSpPr>
        <p:grpSpPr>
          <a:xfrm>
            <a:off x="219415" y="380513"/>
            <a:ext cx="17839985" cy="1486387"/>
            <a:chOff x="0" y="-76200"/>
            <a:chExt cx="3730359" cy="4826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D7DB7E15-6C2E-DB05-763C-B861AC6585BF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ECF3D43B-BFE6-F59D-147E-172B7E2D2A20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 dirty="0"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6ADD0D99-897D-A3DB-A215-6DD11BE9DCAA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74F0AB26-BDA0-5DF8-B4E3-727BD501ED44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B13075A5-6796-D567-6432-BB9F9C9F3919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A00EEC59-4321-2B39-1510-6433555F6021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9226A366-B93F-8B12-F15F-970E0C380950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81D01F58-ACF9-FF09-4CCE-B7C18D7F7420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88FC9F23-5751-1898-680A-90E289CAA86B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886A2F57-0789-877E-0336-E5884047B079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6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2C6F670A-4AC1-8A40-3934-D1DC27FB62D2}"/>
              </a:ext>
            </a:extLst>
          </p:cNvPr>
          <p:cNvSpPr txBox="1"/>
          <p:nvPr/>
        </p:nvSpPr>
        <p:spPr>
          <a:xfrm>
            <a:off x="609600" y="668485"/>
            <a:ext cx="14173200" cy="1729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IN" sz="5000" dirty="0">
                <a:solidFill>
                  <a:schemeClr val="bg1"/>
                </a:solidFill>
                <a:latin typeface="Montserrat Bold" panose="020B0604020202020204" charset="0"/>
              </a:rPr>
              <a:t>LITERATURE REVIEW – GLOBAL CONTEXT</a:t>
            </a:r>
            <a:endParaRPr lang="en-IN" sz="5000" b="1" dirty="0">
              <a:solidFill>
                <a:schemeClr val="bg1"/>
              </a:solidFill>
              <a:latin typeface="Montserrat Bold" panose="020B0604020202020204" charset="0"/>
            </a:endParaRPr>
          </a:p>
          <a:p>
            <a:pPr>
              <a:lnSpc>
                <a:spcPts val="7000"/>
              </a:lnSpc>
              <a:spcBef>
                <a:spcPct val="0"/>
              </a:spcBef>
            </a:pPr>
            <a:endParaRPr lang="en-US" sz="5000" b="1" dirty="0">
              <a:solidFill>
                <a:schemeClr val="bg1"/>
              </a:solidFill>
              <a:latin typeface="Montserrat Bold" panose="020B0604020202020204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FD32AB-7DF3-8F5C-D09F-EB8B0ECC9371}"/>
              </a:ext>
            </a:extLst>
          </p:cNvPr>
          <p:cNvSpPr txBox="1"/>
          <p:nvPr/>
        </p:nvSpPr>
        <p:spPr>
          <a:xfrm>
            <a:off x="13722511" y="934314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C880D376-1C49-0AAD-B21E-E4E55A99AADA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Aaditiya Tyagi                              Paper ID : 2014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2D71FDE-053F-A77F-2C94-EED6E78DC57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64181" y="6676535"/>
            <a:ext cx="155456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07D187-9191-C86A-C2BB-AC16F22A0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366227"/>
            <a:ext cx="16992600" cy="7337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spcAft>
                <a:spcPts val="65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Judicial digitization efforts in Indonesia, Libya, and the Philippines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Indonesia: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 of electronic filing, online payments, and video hearings improved transparency but faced infrastructure challenges.</a:t>
            </a:r>
          </a:p>
          <a:p>
            <a:pPr marL="457200" indent="-457200" algn="just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Libya: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Multi-factor authentication enhanced security in e-government portals but raised concerns about network reliability.</a:t>
            </a:r>
          </a:p>
          <a:p>
            <a:pPr marL="457200" indent="-457200" algn="just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Philippines: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docket systems improved case tracking and efficiency but lacked scalability across regions.</a:t>
            </a:r>
          </a:p>
          <a:p>
            <a:pPr algn="just">
              <a:spcAft>
                <a:spcPts val="65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studies demonstrate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of digital courts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also exposing operational and evaluation challenges.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135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4D848-AE95-96EB-E093-A32281BA0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0A9C24BF-8AD8-C367-DA91-4635C53EBFB9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90A412A8-0539-5CF8-E720-39E23EFB4369}"/>
              </a:ext>
            </a:extLst>
          </p:cNvPr>
          <p:cNvGrpSpPr/>
          <p:nvPr/>
        </p:nvGrpSpPr>
        <p:grpSpPr>
          <a:xfrm>
            <a:off x="219415" y="615206"/>
            <a:ext cx="17839985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8D9E6CB6-CAD6-917A-BBF5-CA214D7763FF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825E1AA1-FBFA-C84F-D65E-6D0BF56FE3A9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B9D5BC53-344B-0D5E-0E95-2B586D434188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C28A9C43-FAF2-C7BF-BB8E-AFE801C52701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4C0F875C-B636-0F31-5632-A7AD53A39CA9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343F1DB4-6329-83C1-CF9A-E92232E8D280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D5979FCD-0E8C-FBA9-B811-82CE84F16BF8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29F75055-7D5B-CE58-0C16-566EB807F023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4C8EE00E-CA0F-1F03-B55D-FE87AB92750A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F664F46B-27CD-D34C-3B4E-359C73370EB5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7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E2BCC351-D566-7376-DF9A-FB825AFC1B1A}"/>
              </a:ext>
            </a:extLst>
          </p:cNvPr>
          <p:cNvSpPr txBox="1"/>
          <p:nvPr/>
        </p:nvSpPr>
        <p:spPr>
          <a:xfrm>
            <a:off x="609600" y="668485"/>
            <a:ext cx="13563600" cy="1729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IN" sz="5000" b="1" dirty="0">
                <a:solidFill>
                  <a:schemeClr val="bg1"/>
                </a:solidFill>
                <a:latin typeface="Montserrat Bold" panose="020B0604020202020204" charset="0"/>
              </a:rPr>
              <a:t>LITERATURE REVIEW – RESEARCH GAPS</a:t>
            </a:r>
          </a:p>
          <a:p>
            <a:pPr>
              <a:lnSpc>
                <a:spcPts val="7000"/>
              </a:lnSpc>
              <a:spcBef>
                <a:spcPct val="0"/>
              </a:spcBef>
            </a:pPr>
            <a:endParaRPr lang="en-US" sz="5000" b="1" dirty="0">
              <a:solidFill>
                <a:schemeClr val="bg1"/>
              </a:solidFill>
              <a:latin typeface="Montserrat Bold" panose="020B0604020202020204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AFF59F-1B26-3ABC-E07E-979A0045A8D5}"/>
              </a:ext>
            </a:extLst>
          </p:cNvPr>
          <p:cNvSpPr txBox="1"/>
          <p:nvPr/>
        </p:nvSpPr>
        <p:spPr>
          <a:xfrm>
            <a:off x="13722511" y="934314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6AE13D82-7257-8B43-2FE6-63501A3A6AB8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Aaditiya Tyagi                              Paper ID : 2014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3D7F623-9038-9863-5BDA-08E6D13E2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99065"/>
            <a:ext cx="17087895" cy="6506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spcAft>
                <a:spcPts val="65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empirical metrics and limitations of silo systems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studies are descriptive rather than data-driven.</a:t>
            </a:r>
          </a:p>
          <a:p>
            <a:pPr marL="342900" indent="-342900" algn="just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focus on measuring delay reduction, system performance, and usability.</a:t>
            </a:r>
          </a:p>
          <a:p>
            <a:pPr marL="342900" indent="-342900" algn="just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operate as isolated modules instead of unified judicial platforms.</a:t>
            </a:r>
          </a:p>
          <a:p>
            <a:pPr marL="342900" indent="-342900" algn="just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access control mechanisms are inconsistently implemented.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962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B85FA685-A75E-4F3B-B80D-C22DFADFFDC0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42661201-4BFD-4855-85F2-00291465ADC8}"/>
              </a:ext>
            </a:extLst>
          </p:cNvPr>
          <p:cNvGrpSpPr/>
          <p:nvPr/>
        </p:nvGrpSpPr>
        <p:grpSpPr>
          <a:xfrm>
            <a:off x="219415" y="615206"/>
            <a:ext cx="17839985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4E30FD43-EAEA-4CBE-BA5F-60A2E5344831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433005B2-45FF-412D-9F4A-B3B9944F169E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F3A67949-19A8-4EEC-AC2E-3237C5579EB1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835472C3-FCAE-447E-BE13-E5093B367B42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6084D578-3175-4F87-8A89-98D4E40190D3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7BADACFF-0115-4233-8374-D5916AB2EDF5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7FABE79F-67A2-4303-B71C-9DEF1F606E45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2DB7820C-D1CE-456A-AC35-DE3C6D8EDC90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36155CC-BEE4-41B5-8B41-55840F2DCD35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506FB363-85E8-41E3-8491-A6B4112A9D38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dirty="0">
                <a:solidFill>
                  <a:schemeClr val="bg1"/>
                </a:solidFill>
                <a:latin typeface="Century Schoolbook" panose="02040604050505020304" pitchFamily="18" charset="0"/>
              </a:rPr>
              <a:t>8</a:t>
            </a:r>
            <a:endParaRPr sz="28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C998A3AC-2685-40BB-A52E-51F07FBC1AC2}"/>
              </a:ext>
            </a:extLst>
          </p:cNvPr>
          <p:cNvSpPr txBox="1"/>
          <p:nvPr/>
        </p:nvSpPr>
        <p:spPr>
          <a:xfrm>
            <a:off x="609600" y="668484"/>
            <a:ext cx="14097000" cy="830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IN" sz="5000" dirty="0">
                <a:solidFill>
                  <a:schemeClr val="bg1"/>
                </a:solidFill>
                <a:latin typeface="Montserrat Bold" panose="020B0604020202020204" charset="0"/>
                <a:cs typeface="Times New Roman" panose="02020603050405020304" pitchFamily="18" charset="0"/>
              </a:rPr>
              <a:t>METHODOLOGY-SYSTEM ARCHITECTURE</a:t>
            </a:r>
            <a:endParaRPr lang="en-US" sz="5000" b="1" dirty="0">
              <a:solidFill>
                <a:schemeClr val="bg1"/>
              </a:solidFill>
              <a:latin typeface="Montserrat Bold" panose="020B0604020202020204" charset="0"/>
              <a:ea typeface="Montserrat Bold"/>
              <a:cs typeface="Times New Roman" panose="02020603050405020304" pitchFamily="18" charset="0"/>
              <a:sym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A760DC-7AA9-32E7-CB6A-C9A887C3C22A}"/>
              </a:ext>
            </a:extLst>
          </p:cNvPr>
          <p:cNvSpPr txBox="1"/>
          <p:nvPr/>
        </p:nvSpPr>
        <p:spPr>
          <a:xfrm>
            <a:off x="13722511" y="934314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5E0F8730-154A-DA4E-49F8-266F8220D073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  Aaditiya Tyagi                           Paper ID : 2014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F78712-D95A-4CC6-8FFB-4A27C7F41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349740"/>
              </p:ext>
            </p:extLst>
          </p:nvPr>
        </p:nvGraphicFramePr>
        <p:xfrm>
          <a:off x="609600" y="5829300"/>
          <a:ext cx="17087896" cy="3343369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8543948">
                  <a:extLst>
                    <a:ext uri="{9D8B030D-6E8A-4147-A177-3AD203B41FA5}">
                      <a16:colId xmlns:a16="http://schemas.microsoft.com/office/drawing/2014/main" val="1316979176"/>
                    </a:ext>
                  </a:extLst>
                </a:gridCol>
                <a:gridCol w="8543948">
                  <a:extLst>
                    <a:ext uri="{9D8B030D-6E8A-4147-A177-3AD203B41FA5}">
                      <a16:colId xmlns:a16="http://schemas.microsoft.com/office/drawing/2014/main" val="1175932339"/>
                    </a:ext>
                  </a:extLst>
                </a:gridCol>
              </a:tblGrid>
              <a:tr h="804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605762"/>
                  </a:ext>
                </a:extLst>
              </a:tr>
              <a:tr h="634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Role-specific dashboards (React.js)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4693651"/>
                  </a:ext>
                </a:extLst>
              </a:tr>
              <a:tr h="634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logic and APIs (Node.js, Express)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946936"/>
                  </a:ext>
                </a:extLst>
              </a:tr>
              <a:tr h="634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 and document storage (MongoDB)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4098821"/>
                  </a:ext>
                </a:extLst>
              </a:tr>
              <a:tr h="634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JWT authentication and RBAC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976170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4190570C-4201-79DF-69F9-4BC3CF0955B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90504" y="2269918"/>
            <a:ext cx="17106992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450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Tiered design, MERN stack, and RBAC security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ts val="45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follows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layered architecture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separating presentation, application logic, and data management.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ts val="45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MERN stack ensures modularity, scalability, and real-time responsiveness.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ts val="45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(RBAC) enforces strict permissions for each stakeholder.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613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3B2E5-F8B6-8640-D6B3-358B8F524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6B6D9F78-0ECF-BAA8-500C-E28BFB65D103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EAFA3372-AF17-2597-3634-09026D64D552}"/>
              </a:ext>
            </a:extLst>
          </p:cNvPr>
          <p:cNvGrpSpPr/>
          <p:nvPr/>
        </p:nvGrpSpPr>
        <p:grpSpPr>
          <a:xfrm>
            <a:off x="219415" y="615206"/>
            <a:ext cx="17839985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3BB79DB1-7BD7-3DC8-130A-4623835D2AE3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8E04BCD5-4CEA-DF45-D08D-AD5045891595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8FC6DC5E-F9D0-B586-5916-93A2F9F46976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A5BC2FD6-1BC8-122B-1A1C-9CCA177B2DAE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E728D721-1AF6-9F6C-5BFF-B7B7C1893AFE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B4161F39-8001-9B35-08FB-BEC057B394A8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0A78E778-E95C-17DE-76D1-499BE99A9DC5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3FE4244A-0442-1884-2CEF-72CC602D3882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5ABB1D3-EE51-46E8-131F-030A20D30E34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F74E59A5-FE8D-C645-90C4-1B3378BC64DC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9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AABB789A-4246-AA10-58DB-6608712BFFEF}"/>
              </a:ext>
            </a:extLst>
          </p:cNvPr>
          <p:cNvSpPr txBox="1"/>
          <p:nvPr/>
        </p:nvSpPr>
        <p:spPr>
          <a:xfrm>
            <a:off x="609600" y="668484"/>
            <a:ext cx="13932080" cy="830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IN" sz="5000" b="1" dirty="0">
                <a:solidFill>
                  <a:schemeClr val="bg1"/>
                </a:solidFill>
                <a:latin typeface="Montserrat Bold" panose="020B0604020202020204" charset="0"/>
                <a:cs typeface="Times New Roman" panose="02020603050405020304" pitchFamily="18" charset="0"/>
              </a:rPr>
              <a:t>METHODOLOGY – KEY WORKFLOWS</a:t>
            </a:r>
            <a:endParaRPr lang="en-US" sz="5000" b="1" dirty="0">
              <a:solidFill>
                <a:schemeClr val="bg1"/>
              </a:solidFill>
              <a:latin typeface="Montserrat Bold" panose="020B0604020202020204" charset="0"/>
              <a:ea typeface="Montserrat Bold"/>
              <a:cs typeface="Times New Roman" panose="02020603050405020304" pitchFamily="18" charset="0"/>
              <a:sym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93B87D-9039-2E70-A559-53DEAA4C6553}"/>
              </a:ext>
            </a:extLst>
          </p:cNvPr>
          <p:cNvSpPr txBox="1"/>
          <p:nvPr/>
        </p:nvSpPr>
        <p:spPr>
          <a:xfrm>
            <a:off x="13722511" y="934314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160C07C8-4A43-1848-AB02-23F951557F96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Aaditiya Tyagi                              Paper ID : 2014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72FFB-2555-ADD7-5D00-2FE126C0F46F}"/>
              </a:ext>
            </a:extLst>
          </p:cNvPr>
          <p:cNvSpPr txBox="1"/>
          <p:nvPr/>
        </p:nvSpPr>
        <p:spPr>
          <a:xfrm>
            <a:off x="609600" y="2476500"/>
            <a:ext cx="16916400" cy="5765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500"/>
              </a:spcAft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Automating case filing, hearing scheduling, and document management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Filing Algorithm: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user role, validates documents, assigns unique case ID, and updates case state.</a:t>
            </a:r>
          </a:p>
          <a:p>
            <a:pPr marL="342900" indent="-342900" algn="just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Hearing Scheduling Algorithm: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judge availability, resolves conflicts, and confirms hearing slots automatically.</a:t>
            </a:r>
          </a:p>
          <a:p>
            <a:pPr marL="342900" indent="-342900" algn="just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Management Algorithm: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Enforces version control, metadata tagging, and secure storage.</a:t>
            </a:r>
          </a:p>
          <a:p>
            <a:pPr algn="just">
              <a:spcAft>
                <a:spcPts val="65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workflows reduce manual intervention and enforce consistency.</a:t>
            </a:r>
          </a:p>
        </p:txBody>
      </p:sp>
    </p:spTree>
    <p:extLst>
      <p:ext uri="{BB962C8B-B14F-4D97-AF65-F5344CB8AC3E}">
        <p14:creationId xmlns:p14="http://schemas.microsoft.com/office/powerpoint/2010/main" val="4072656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D2AAB-E353-4869-C21B-1AEB4BB8E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36EB4CAB-104C-2109-9567-93788B89FF3D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A3BB27E8-8312-604F-F90C-4AD20200C3B2}"/>
              </a:ext>
            </a:extLst>
          </p:cNvPr>
          <p:cNvGrpSpPr/>
          <p:nvPr/>
        </p:nvGrpSpPr>
        <p:grpSpPr>
          <a:xfrm>
            <a:off x="219415" y="615206"/>
            <a:ext cx="17839985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859338E1-27AB-5575-B6C7-862F992BEA7B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3E72D1F0-F061-E008-FA4D-248D5172241C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BE60E4F3-A7BC-BDA8-0EBB-82B0A0A2B01C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226BE353-95DD-EBD9-72EF-8125B6121F5E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0EEC4D89-E051-E560-D804-8F758447291C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8429AA71-660C-BCBA-6DD9-CD42305469F1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312A8823-34A8-3F6C-84FB-C1C772DC7E95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0D544157-611D-A902-5326-C622D5C90541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D9323644-0294-6B4C-60B2-33A94979DBAB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041F453C-E6FA-2524-F9C4-77FD93743AAB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10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E7E7FA76-8418-1DE0-03BF-82E7A26AD7AF}"/>
              </a:ext>
            </a:extLst>
          </p:cNvPr>
          <p:cNvSpPr txBox="1"/>
          <p:nvPr/>
        </p:nvSpPr>
        <p:spPr>
          <a:xfrm>
            <a:off x="609600" y="668484"/>
            <a:ext cx="13932080" cy="853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IN" sz="5000" dirty="0">
                <a:solidFill>
                  <a:schemeClr val="bg1"/>
                </a:solidFill>
                <a:latin typeface="Montserrat Bold" panose="020B0604020202020204" charset="0"/>
              </a:rPr>
              <a:t>METHODOLOGY – EVALUATION DESIGN</a:t>
            </a:r>
            <a:endParaRPr lang="en-US" sz="5000" b="1" dirty="0">
              <a:solidFill>
                <a:schemeClr val="bg1"/>
              </a:solidFill>
              <a:latin typeface="Montserrat Bold" panose="020B0604020202020204" charset="0"/>
              <a:ea typeface="Montserrat Bold"/>
              <a:cs typeface="Times New Roman" panose="02020603050405020304" pitchFamily="18" charset="0"/>
              <a:sym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CEA3B5-2C5F-D38A-FF4A-DA115CCF2BB0}"/>
              </a:ext>
            </a:extLst>
          </p:cNvPr>
          <p:cNvSpPr txBox="1"/>
          <p:nvPr/>
        </p:nvSpPr>
        <p:spPr>
          <a:xfrm>
            <a:off x="13722511" y="934314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EE438A05-719A-1CA5-E74C-49B1EA3D1811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Aaditiya Tyagi                              Paper ID : 2014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16A859-0166-76AF-95BB-B4981A3D074A}"/>
              </a:ext>
            </a:extLst>
          </p:cNvPr>
          <p:cNvSpPr txBox="1"/>
          <p:nvPr/>
        </p:nvSpPr>
        <p:spPr>
          <a:xfrm>
            <a:off x="609600" y="2476500"/>
            <a:ext cx="17087896" cy="6599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5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 environment, test scenarios, and load simulation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controlled pilot environment replicating real judicial workflows was created.</a:t>
            </a:r>
          </a:p>
          <a:p>
            <a:pPr marL="342900" indent="-342900" algn="just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user roles were tested independently and concurrently.</a:t>
            </a:r>
          </a:p>
          <a:p>
            <a:pPr marL="342900" indent="-342900" algn="just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testing simulated high-traffic scenarios to evaluate system stability.</a:t>
            </a:r>
          </a:p>
          <a:p>
            <a:pPr marL="342900" indent="-342900" algn="just">
              <a:spcAft>
                <a:spcPts val="65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testing captured structured feedback from stakeholders.</a:t>
            </a:r>
          </a:p>
          <a:p>
            <a:pPr algn="just">
              <a:spcAft>
                <a:spcPts val="6500"/>
              </a:spcAf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914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D0057-66A9-9DC7-6CEF-A3B443DB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BC819930-2E96-FF2D-3DA4-9E4C68A8DEFA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D09969B4-9C96-CDE2-CEA2-9D3BF2702B02}"/>
              </a:ext>
            </a:extLst>
          </p:cNvPr>
          <p:cNvGrpSpPr/>
          <p:nvPr/>
        </p:nvGrpSpPr>
        <p:grpSpPr>
          <a:xfrm>
            <a:off x="219415" y="615206"/>
            <a:ext cx="17839985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D220F5DF-3AC8-FECA-B2EB-264AA662173C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9E7782C7-8C68-60B1-EE20-5E45B1F0529B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2BADB9CF-4658-D486-41FF-3CA16C524F20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F8CBB890-2303-DAA5-536A-302424866EF1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72637BB4-5BE9-7785-ECAD-882974CEF73B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82CAC587-C9AE-4992-5793-4A0E052F4FB3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C8C41793-12CC-F563-DE26-AAB69498CC29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77BEEF17-5041-9C8D-1398-CED3E9263AA1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5B6A49BA-33BD-06F1-8312-3560E6E962B1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07A42B19-B560-DBA0-E5A8-CC2996A498FC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11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6607506D-9CF7-923D-7679-FC527BEACBF4}"/>
              </a:ext>
            </a:extLst>
          </p:cNvPr>
          <p:cNvSpPr txBox="1"/>
          <p:nvPr/>
        </p:nvSpPr>
        <p:spPr>
          <a:xfrm>
            <a:off x="609600" y="668484"/>
            <a:ext cx="12268200" cy="8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IN" sz="5000" b="1" dirty="0">
                <a:solidFill>
                  <a:schemeClr val="bg1"/>
                </a:solidFill>
                <a:latin typeface="Montserrat Bold" panose="020B0604020202020204" charset="0"/>
              </a:rPr>
              <a:t>IMPLEMENTATION</a:t>
            </a:r>
            <a:endParaRPr lang="en-US" sz="5000" b="1" dirty="0">
              <a:solidFill>
                <a:schemeClr val="bg1"/>
              </a:solidFill>
              <a:latin typeface="Montserrat Bold" panose="020B0604020202020204" charset="0"/>
              <a:ea typeface="Montserrat Bold"/>
              <a:cs typeface="Times New Roman" panose="02020603050405020304" pitchFamily="18" charset="0"/>
              <a:sym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B33E8F-1737-071C-E31D-4D98EA5D3692}"/>
              </a:ext>
            </a:extLst>
          </p:cNvPr>
          <p:cNvSpPr txBox="1"/>
          <p:nvPr/>
        </p:nvSpPr>
        <p:spPr>
          <a:xfrm>
            <a:off x="13722511" y="934314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297FEF06-85DF-C9D6-CAF7-E3C7FD4E1798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Aaditiya Tyagi                              Paper ID : 2014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0D592-70A3-02E3-7411-4D919E33F1AD}"/>
              </a:ext>
            </a:extLst>
          </p:cNvPr>
          <p:cNvSpPr txBox="1"/>
          <p:nvPr/>
        </p:nvSpPr>
        <p:spPr>
          <a:xfrm>
            <a:off x="609600" y="2476501"/>
            <a:ext cx="13639800" cy="1787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500"/>
              </a:spcAft>
            </a:pPr>
            <a:r>
              <a:rPr lang="en-IN" sz="3200" b="1" dirty="0">
                <a:latin typeface="Montserrat Bold" panose="020B0604020202020204" charset="0"/>
              </a:rPr>
              <a:t>TOOLS AND TECHNOLOGIES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500"/>
              </a:spcAf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8DE10A-5146-3B8F-AC7B-9657A035D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768574"/>
              </p:ext>
            </p:extLst>
          </p:nvPr>
        </p:nvGraphicFramePr>
        <p:xfrm>
          <a:off x="609600" y="4477756"/>
          <a:ext cx="17087896" cy="4292863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8543948">
                  <a:extLst>
                    <a:ext uri="{9D8B030D-6E8A-4147-A177-3AD203B41FA5}">
                      <a16:colId xmlns:a16="http://schemas.microsoft.com/office/drawing/2014/main" val="4236606076"/>
                    </a:ext>
                  </a:extLst>
                </a:gridCol>
                <a:gridCol w="8543948">
                  <a:extLst>
                    <a:ext uri="{9D8B030D-6E8A-4147-A177-3AD203B41FA5}">
                      <a16:colId xmlns:a16="http://schemas.microsoft.com/office/drawing/2014/main" val="4292665074"/>
                    </a:ext>
                  </a:extLst>
                </a:gridCol>
              </a:tblGrid>
              <a:tr h="748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874769"/>
                  </a:ext>
                </a:extLst>
              </a:tr>
              <a:tr h="590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React.js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677765"/>
                  </a:ext>
                </a:extLst>
              </a:tr>
              <a:tr h="590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Node.js, Express.js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47609"/>
                  </a:ext>
                </a:extLst>
              </a:tr>
              <a:tr h="590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MongoDB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254530"/>
                  </a:ext>
                </a:extLst>
              </a:tr>
              <a:tr h="590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JWT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350304"/>
                  </a:ext>
                </a:extLst>
              </a:tr>
              <a:tr h="590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RBAC, HTTPS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977560"/>
                  </a:ext>
                </a:extLst>
              </a:tr>
              <a:tr h="590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Cloud-ready, scalable setup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832549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A7909ACA-2507-EA20-D47A-CD0E69695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52562"/>
            <a:ext cx="110490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used for development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619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8ED0C-C4A3-FF72-6244-4AC7D25AF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DE22FE39-DC1D-C402-40BD-760DE9846345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F159A885-8E5A-CCCD-8B5D-3C89B78688E0}"/>
              </a:ext>
            </a:extLst>
          </p:cNvPr>
          <p:cNvGrpSpPr/>
          <p:nvPr/>
        </p:nvGrpSpPr>
        <p:grpSpPr>
          <a:xfrm>
            <a:off x="219415" y="615206"/>
            <a:ext cx="17839985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242B743B-7532-8152-9C91-9B5C34B30CDA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4FEE115F-8CEB-9AB0-EF8A-11A3C55E71D5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857781C1-26E7-6A97-180F-F0DBA03E62C2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CFD2FE82-C114-4522-E3BE-5343DA4E3EA7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93A12154-B8EB-AEF3-D868-1EDA3CB1B903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644D3BDF-A714-DF8C-98F2-41165B935E90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DC5E5344-C417-9590-5822-0BE1EEB6A5CE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FECF45B4-23EA-3E46-7EFC-6D5CA681CBBA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F73E40D9-5663-0053-83EB-219E751EBA50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66F3CE61-2C87-3D8C-BE5C-1C9DD23731DC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12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FD3324AE-3A1B-780C-0B89-695899247D7D}"/>
              </a:ext>
            </a:extLst>
          </p:cNvPr>
          <p:cNvSpPr txBox="1"/>
          <p:nvPr/>
        </p:nvSpPr>
        <p:spPr>
          <a:xfrm>
            <a:off x="609600" y="668484"/>
            <a:ext cx="13932080" cy="853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IN" sz="5000" dirty="0">
                <a:solidFill>
                  <a:schemeClr val="bg1"/>
                </a:solidFill>
                <a:latin typeface="Montserrat Bold" panose="020B0604020202020204" charset="0"/>
              </a:rPr>
              <a:t>RESULTS – PERFORMANCE METRICS</a:t>
            </a:r>
            <a:endParaRPr lang="en-US" sz="5000" b="1" dirty="0">
              <a:solidFill>
                <a:schemeClr val="bg1"/>
              </a:solidFill>
              <a:latin typeface="Montserrat Bold" panose="020B0604020202020204" charset="0"/>
              <a:ea typeface="Montserrat Bold"/>
              <a:cs typeface="Times New Roman" panose="02020603050405020304" pitchFamily="18" charset="0"/>
              <a:sym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6B5C28-7153-74C2-CDB6-8E8023F809F2}"/>
              </a:ext>
            </a:extLst>
          </p:cNvPr>
          <p:cNvSpPr txBox="1"/>
          <p:nvPr/>
        </p:nvSpPr>
        <p:spPr>
          <a:xfrm>
            <a:off x="13722511" y="934314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1884C5D7-E0A0-7200-2266-5BCBA409216C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Aaditiya Tyagi                              Paper ID : 2014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1D13C3-CBBA-E777-EE7B-66E376B22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637958"/>
              </p:ext>
            </p:extLst>
          </p:nvPr>
        </p:nvGraphicFramePr>
        <p:xfrm>
          <a:off x="682188" y="4076701"/>
          <a:ext cx="16843812" cy="4419597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8421906">
                  <a:extLst>
                    <a:ext uri="{9D8B030D-6E8A-4147-A177-3AD203B41FA5}">
                      <a16:colId xmlns:a16="http://schemas.microsoft.com/office/drawing/2014/main" val="4097540007"/>
                    </a:ext>
                  </a:extLst>
                </a:gridCol>
                <a:gridCol w="8421906">
                  <a:extLst>
                    <a:ext uri="{9D8B030D-6E8A-4147-A177-3AD203B41FA5}">
                      <a16:colId xmlns:a16="http://schemas.microsoft.com/office/drawing/2014/main" val="1313243115"/>
                    </a:ext>
                  </a:extLst>
                </a:gridCol>
              </a:tblGrid>
              <a:tr h="830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1155394"/>
                  </a:ext>
                </a:extLst>
              </a:tr>
              <a:tr h="91964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 Filing Time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compared to manual process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660071"/>
                  </a:ext>
                </a:extLst>
              </a:tr>
              <a:tr h="83032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Scheduling Conflicts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Significantly minimized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314242"/>
                  </a:ext>
                </a:extLst>
              </a:tr>
              <a:tr h="91964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Concurrent Access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performance under load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539075"/>
                  </a:ext>
                </a:extLst>
              </a:tr>
              <a:tr h="91964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Response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Consistent and predictable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5252382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7F1D1618-E10F-0F63-3B3B-0548C508F73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90504" y="2888630"/>
            <a:ext cx="1710699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Scalability, scheduling efficiency, and response time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564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142EE-6486-49D6-3DCA-97E3469D8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FBC4EC33-041B-FD66-A306-C8AD37788066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9EDD8252-7A1F-632C-1E50-C6454072BC28}"/>
              </a:ext>
            </a:extLst>
          </p:cNvPr>
          <p:cNvGrpSpPr/>
          <p:nvPr/>
        </p:nvGrpSpPr>
        <p:grpSpPr>
          <a:xfrm>
            <a:off x="219415" y="615206"/>
            <a:ext cx="17839985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74D68231-30A8-3E3C-0732-7C7A91FD846D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86E1FA0C-A9AF-4E19-0AC9-1E0BD5B5507C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187A84C3-BBF7-53D5-BD9C-EB3D0D090EFB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C726F6EF-07B1-60B7-9459-FC0D6F51FE3C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498613AB-1888-3FB9-5311-39E53A24B3C0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66E67E13-963D-C6F2-4B1E-4C8B7599FD31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B15E2510-9659-5FFD-6AC9-63738EEC61F3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F57237A9-9156-28ED-B25E-E7CD6DEE31D9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4F8EF888-6BF1-4DBA-B5B0-12125837E4AB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F547616D-11CA-8199-027B-43EC29E226C2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13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9A4071EA-6055-C0A5-0F7D-DE620273728D}"/>
              </a:ext>
            </a:extLst>
          </p:cNvPr>
          <p:cNvSpPr txBox="1"/>
          <p:nvPr/>
        </p:nvSpPr>
        <p:spPr>
          <a:xfrm>
            <a:off x="609600" y="668484"/>
            <a:ext cx="13932080" cy="853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IN" sz="5000" b="1" dirty="0">
                <a:solidFill>
                  <a:schemeClr val="bg1"/>
                </a:solidFill>
                <a:latin typeface="Montserrat Bold" panose="020B0604020202020204" charset="0"/>
              </a:rPr>
              <a:t>RESULTS – COMPARATIVE ANALYSIS</a:t>
            </a:r>
            <a:endParaRPr lang="en-US" sz="5000" b="1" dirty="0">
              <a:solidFill>
                <a:schemeClr val="bg1"/>
              </a:solidFill>
              <a:latin typeface="Montserrat Bold" panose="020B0604020202020204" charset="0"/>
              <a:ea typeface="Montserrat Bold"/>
              <a:cs typeface="Times New Roman" panose="02020603050405020304" pitchFamily="18" charset="0"/>
              <a:sym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B65672-8A8A-2840-8C03-E4324E13F7CA}"/>
              </a:ext>
            </a:extLst>
          </p:cNvPr>
          <p:cNvSpPr txBox="1"/>
          <p:nvPr/>
        </p:nvSpPr>
        <p:spPr>
          <a:xfrm>
            <a:off x="13722511" y="934314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F4A15A11-6F85-1711-4563-EB1648BE282D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Aaditiya Tyagi                              Paper ID : 2014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2AD4EC-973E-07FA-22AE-858E223BE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254014"/>
              </p:ext>
            </p:extLst>
          </p:nvPr>
        </p:nvGraphicFramePr>
        <p:xfrm>
          <a:off x="685800" y="3626977"/>
          <a:ext cx="17011696" cy="4564522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4252924">
                  <a:extLst>
                    <a:ext uri="{9D8B030D-6E8A-4147-A177-3AD203B41FA5}">
                      <a16:colId xmlns:a16="http://schemas.microsoft.com/office/drawing/2014/main" val="876278828"/>
                    </a:ext>
                  </a:extLst>
                </a:gridCol>
                <a:gridCol w="4252924">
                  <a:extLst>
                    <a:ext uri="{9D8B030D-6E8A-4147-A177-3AD203B41FA5}">
                      <a16:colId xmlns:a16="http://schemas.microsoft.com/office/drawing/2014/main" val="616986164"/>
                    </a:ext>
                  </a:extLst>
                </a:gridCol>
                <a:gridCol w="4252924">
                  <a:extLst>
                    <a:ext uri="{9D8B030D-6E8A-4147-A177-3AD203B41FA5}">
                      <a16:colId xmlns:a16="http://schemas.microsoft.com/office/drawing/2014/main" val="3272528413"/>
                    </a:ext>
                  </a:extLst>
                </a:gridCol>
                <a:gridCol w="4252924">
                  <a:extLst>
                    <a:ext uri="{9D8B030D-6E8A-4147-A177-3AD203B41FA5}">
                      <a16:colId xmlns:a16="http://schemas.microsoft.com/office/drawing/2014/main" val="1621042798"/>
                    </a:ext>
                  </a:extLst>
                </a:gridCol>
              </a:tblGrid>
              <a:tr h="922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Legal Connect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E-Courts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178247"/>
                  </a:ext>
                </a:extLst>
              </a:tr>
              <a:tr h="7283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Role-Based Access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003550"/>
                  </a:ext>
                </a:extLst>
              </a:tr>
              <a:tr h="7283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Empirical Evaluation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reported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reported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Conducted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6943996"/>
                  </a:ext>
                </a:extLst>
              </a:tr>
              <a:tr h="7283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Scheduling Efficiency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2625042"/>
                  </a:ext>
                </a:extLst>
              </a:tr>
              <a:tr h="7283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Usability Feedback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reported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reported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216905"/>
                  </a:ext>
                </a:extLst>
              </a:tr>
              <a:tr h="7283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evaluated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evaluated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9965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4193FBD-47A2-AC05-F19C-A7E00894565F}"/>
              </a:ext>
            </a:extLst>
          </p:cNvPr>
          <p:cNvSpPr txBox="1"/>
          <p:nvPr/>
        </p:nvSpPr>
        <p:spPr>
          <a:xfrm>
            <a:off x="609600" y="2628900"/>
            <a:ext cx="170878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portal vs Legal Connect and existing e-courts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537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9FAA8-BB60-D673-2F55-EF120D167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6451F1CC-2A3A-58DB-0D60-1148518272DC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64739164-6AE0-89A6-BC72-1957D7F5F928}"/>
              </a:ext>
            </a:extLst>
          </p:cNvPr>
          <p:cNvGrpSpPr/>
          <p:nvPr/>
        </p:nvGrpSpPr>
        <p:grpSpPr>
          <a:xfrm>
            <a:off x="304799" y="615206"/>
            <a:ext cx="17754601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ED6DCBD5-C71B-6275-302F-243856435E88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676DE7AE-9225-8FD2-2CF0-FB9DCA378742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75A07CCB-69A9-76B8-96B6-4FBE62EC62A9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846E1624-3CCF-2756-D59C-FB76F86D8D8B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7B07D2DD-3DE2-AB8C-16A4-FA11FD4A9267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E76F2763-5042-E501-A523-98F57CAA46E2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4D0D8D69-DB2C-7F3E-92CD-25419AEA6C41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38DB0D57-BFDE-5F91-FC1A-65F23AF69468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08433694-9A3F-5814-0E1C-B832547B1774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CF720C34-B76B-57D0-96DD-0971604A7192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14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8044FA77-17D1-4638-9ADD-82863A0748B8}"/>
              </a:ext>
            </a:extLst>
          </p:cNvPr>
          <p:cNvSpPr txBox="1"/>
          <p:nvPr/>
        </p:nvSpPr>
        <p:spPr>
          <a:xfrm>
            <a:off x="381000" y="668484"/>
            <a:ext cx="15468600" cy="830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IN" sz="5000" b="1" dirty="0">
                <a:solidFill>
                  <a:schemeClr val="bg1"/>
                </a:solidFill>
                <a:latin typeface="Montserrat Bold" panose="020B0604020202020204" charset="0"/>
                <a:cs typeface="Times New Roman" panose="02020603050405020304" pitchFamily="18" charset="0"/>
              </a:rPr>
              <a:t>DISCUSSION-USER FEEDBACK &amp; USABILITY</a:t>
            </a:r>
            <a:endParaRPr lang="en-US" sz="5000" b="1" dirty="0">
              <a:solidFill>
                <a:schemeClr val="bg1"/>
              </a:solidFill>
              <a:latin typeface="Montserrat Bold" panose="020B0604020202020204" charset="0"/>
              <a:ea typeface="Montserrat Bold"/>
              <a:cs typeface="Times New Roman" panose="02020603050405020304" pitchFamily="18" charset="0"/>
              <a:sym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A0B532-8207-F74D-819C-409976774BF6}"/>
              </a:ext>
            </a:extLst>
          </p:cNvPr>
          <p:cNvSpPr txBox="1"/>
          <p:nvPr/>
        </p:nvSpPr>
        <p:spPr>
          <a:xfrm>
            <a:off x="13722511" y="934314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85472D42-BF32-F082-73E5-38DC08803919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Aaditiya Tyagi                              Paper ID : 2014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1B1AF-4134-6E07-9AAC-0E43B08B9D79}"/>
              </a:ext>
            </a:extLst>
          </p:cNvPr>
          <p:cNvSpPr txBox="1"/>
          <p:nvPr/>
        </p:nvSpPr>
        <p:spPr>
          <a:xfrm>
            <a:off x="609600" y="2476500"/>
            <a:ext cx="1708789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physical visits and simplified procedures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reported easier navigation and faster task completion.</a:t>
            </a:r>
          </a:p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need for physical court visits for filing and scheduling.</a:t>
            </a:r>
          </a:p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dashboards improved clarity and accountability.</a:t>
            </a:r>
          </a:p>
          <a:p>
            <a:pPr algn="just">
              <a:spcAft>
                <a:spcPts val="6500"/>
              </a:spcAf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485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98244-50B7-DAD6-E45E-772028E87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E9280494-6BAE-1421-22C1-7747402E42A0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5CE2B963-5066-5BF0-E54C-330450EFE741}"/>
              </a:ext>
            </a:extLst>
          </p:cNvPr>
          <p:cNvGrpSpPr/>
          <p:nvPr/>
        </p:nvGrpSpPr>
        <p:grpSpPr>
          <a:xfrm>
            <a:off x="219415" y="615206"/>
            <a:ext cx="17839985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DB5AAB7B-F8A0-E833-C508-AA690D8C5F9D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7E0FF115-5B05-A165-B5D8-73A05A4A4205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09929CFD-7A35-AAA2-94A1-D15C4684EC56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8208409D-B59E-5B55-8392-93DE3C27AA05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B1F18D6C-76F8-129A-67CC-28816724657A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7B18D72E-9904-5C2B-F690-0529773C7C41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A6D22498-CCCF-F2EA-7FFC-06F6FB171A82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8A30E6C1-0902-B9BA-FD98-F6F9752EDCB6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5A12901E-9C99-ECC4-3166-29F0A23E558A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6D783E7D-303E-1960-9894-0132A82BC553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15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CFA3FFEE-19F2-A02D-B067-BC585D87FAC0}"/>
              </a:ext>
            </a:extLst>
          </p:cNvPr>
          <p:cNvSpPr txBox="1"/>
          <p:nvPr/>
        </p:nvSpPr>
        <p:spPr>
          <a:xfrm>
            <a:off x="609600" y="668484"/>
            <a:ext cx="13932080" cy="853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IN" sz="5000" b="1" dirty="0">
                <a:solidFill>
                  <a:schemeClr val="bg1"/>
                </a:solidFill>
                <a:latin typeface="Montserrat Bold" panose="020B0604020202020204" charset="0"/>
                <a:cs typeface="Times New Roman" panose="02020603050405020304" pitchFamily="18" charset="0"/>
              </a:rPr>
              <a:t>CONCLUSION</a:t>
            </a:r>
            <a:endParaRPr lang="en-US" sz="5000" b="1" dirty="0">
              <a:solidFill>
                <a:schemeClr val="bg1"/>
              </a:solidFill>
              <a:latin typeface="Montserrat Bold" panose="020B0604020202020204" charset="0"/>
              <a:ea typeface="Montserrat Bold"/>
              <a:cs typeface="Times New Roman" panose="02020603050405020304" pitchFamily="18" charset="0"/>
              <a:sym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545273-855F-4B25-1CA5-A1EC161FE8F8}"/>
              </a:ext>
            </a:extLst>
          </p:cNvPr>
          <p:cNvSpPr txBox="1"/>
          <p:nvPr/>
        </p:nvSpPr>
        <p:spPr>
          <a:xfrm>
            <a:off x="13722511" y="934314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C11D4D61-8748-90E0-F4C8-816F6893768D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Aaditiya Tyagi                              Paper ID : 2014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6E8E6-7724-7E73-141D-639C41895588}"/>
              </a:ext>
            </a:extLst>
          </p:cNvPr>
          <p:cNvSpPr txBox="1"/>
          <p:nvPr/>
        </p:nvSpPr>
        <p:spPr>
          <a:xfrm>
            <a:off x="609600" y="2101593"/>
            <a:ext cx="1663744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3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Transparency, accountability, and system validation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e-court portal successfully digitizes end-to-end judicial workflows.</a:t>
            </a:r>
          </a:p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evaluation validates improvements in efficiency and usability.</a:t>
            </a:r>
          </a:p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security enhances data confidentiality and accountability.</a:t>
            </a:r>
          </a:p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demonstrates readiness for real-world judicial deployment.</a:t>
            </a:r>
          </a:p>
          <a:p>
            <a:pPr algn="just">
              <a:spcAft>
                <a:spcPts val="6500"/>
              </a:spcAf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675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9D325-597B-88CB-2F81-218DDBF5D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75E0D0D3-9F16-371E-4A3E-3613EB10C86C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CA7CC0C8-3A2F-018F-2FDC-9012B73CF02B}"/>
              </a:ext>
            </a:extLst>
          </p:cNvPr>
          <p:cNvGrpSpPr/>
          <p:nvPr/>
        </p:nvGrpSpPr>
        <p:grpSpPr>
          <a:xfrm>
            <a:off x="219415" y="615206"/>
            <a:ext cx="17839985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31C064BD-DDF5-2B2C-D094-452AB8D9661B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71297107-27C1-D910-26C0-ACB216E6AF41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A4D3CC65-B98E-9AD4-5953-6C4133AF0011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BAC5F3E1-9765-6C65-E3E6-211375ED013F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21EC4D19-5E7C-F7D6-635A-678698D166AE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78142A7F-F2E5-2C56-DF12-4382083DE596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72BE6E20-D283-CF55-E959-BC82D58354AB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55CB473C-343B-7951-1235-A5470D9BD130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1E418EFC-7851-2743-CD71-F7ACAD3FFFD1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04FCE050-C7B8-DA26-F72B-EB0AD7510B69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16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EAF54012-4677-CF9B-D2A0-46514C6B4D05}"/>
              </a:ext>
            </a:extLst>
          </p:cNvPr>
          <p:cNvSpPr txBox="1"/>
          <p:nvPr/>
        </p:nvSpPr>
        <p:spPr>
          <a:xfrm>
            <a:off x="609600" y="668484"/>
            <a:ext cx="13932080" cy="1729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IN" sz="5000" dirty="0">
                <a:solidFill>
                  <a:schemeClr val="bg1"/>
                </a:solidFill>
                <a:latin typeface="Montserrat Bold" panose="020B0604020202020204" charset="0"/>
              </a:rPr>
              <a:t>FUTURE SCOPE &amp; ACKNOWLEDGEMENTS</a:t>
            </a:r>
          </a:p>
          <a:p>
            <a:pPr>
              <a:lnSpc>
                <a:spcPts val="7000"/>
              </a:lnSpc>
              <a:spcBef>
                <a:spcPct val="0"/>
              </a:spcBef>
            </a:pPr>
            <a:endParaRPr lang="en-US" sz="5000" b="1" dirty="0">
              <a:solidFill>
                <a:schemeClr val="bg1"/>
              </a:solidFill>
              <a:latin typeface="Montserrat Bold" panose="020B0604020202020204" charset="0"/>
              <a:ea typeface="Montserrat Bold"/>
              <a:cs typeface="Times New Roman" panose="02020603050405020304" pitchFamily="18" charset="0"/>
              <a:sym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7BFE4E-EC9D-1CF6-8180-5EFEDC05DB7A}"/>
              </a:ext>
            </a:extLst>
          </p:cNvPr>
          <p:cNvSpPr txBox="1"/>
          <p:nvPr/>
        </p:nvSpPr>
        <p:spPr>
          <a:xfrm>
            <a:off x="13722511" y="934314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5458CA93-2573-9494-44F9-1826003EA564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Aaditiya Tyagi                              Paper ID : 2014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95954E-5775-FF05-76ED-ED2AC68148F4}"/>
              </a:ext>
            </a:extLst>
          </p:cNvPr>
          <p:cNvSpPr txBox="1"/>
          <p:nvPr/>
        </p:nvSpPr>
        <p:spPr>
          <a:xfrm>
            <a:off x="609600" y="1811819"/>
            <a:ext cx="168402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integration, enhanced security, and recognition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case prioritization and decision support.</a:t>
            </a:r>
          </a:p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for judicial performance monitoring.</a:t>
            </a:r>
          </a:p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Blockchain-based evidence integrity and audit trails.</a:t>
            </a:r>
          </a:p>
          <a:p>
            <a:pPr marL="342900" indent="-34290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 of faculty mentors and contributors for guidance and support.</a:t>
            </a:r>
          </a:p>
          <a:p>
            <a:pPr algn="just">
              <a:spcAft>
                <a:spcPts val="6500"/>
              </a:spcAf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182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7FA5-401D-CED9-421A-14A86755D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8516453A-09F9-F38F-27BE-0731FC9DB51E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744ED1A4-DC78-CC43-97DD-3B8559A9A87A}"/>
              </a:ext>
            </a:extLst>
          </p:cNvPr>
          <p:cNvGrpSpPr/>
          <p:nvPr/>
        </p:nvGrpSpPr>
        <p:grpSpPr>
          <a:xfrm>
            <a:off x="219415" y="615206"/>
            <a:ext cx="17839985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66409853-A255-8D25-C084-213424D1605B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42E7E3DB-59FE-052F-4CD5-D804BB371813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4EF5FFDC-3AF0-0234-2144-E853DCA466C6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C8828484-2E0A-F19B-7C33-BEAF71EAE477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59C4E41F-5A1B-999A-6F59-B92036300A15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3102FE06-10F4-5502-E349-67672A8A9CBF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84AFCA85-B2FF-83CA-300F-20B37C837F33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326B0B15-6191-A621-C586-8F84A84E19D4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68826EF4-F2E7-0503-1693-B7A2E3981DB5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81CAD8ED-5D2F-2CD4-8B61-1029876214C5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17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9404DB19-BAED-0BAB-E189-D6E98E467F72}"/>
              </a:ext>
            </a:extLst>
          </p:cNvPr>
          <p:cNvSpPr txBox="1"/>
          <p:nvPr/>
        </p:nvSpPr>
        <p:spPr>
          <a:xfrm>
            <a:off x="609600" y="668484"/>
            <a:ext cx="13932080" cy="8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chemeClr val="bg1"/>
                </a:solidFill>
                <a:latin typeface="Montserrat Bold" panose="020B0604020202020204" charset="0"/>
                <a:ea typeface="Montserrat Bold"/>
                <a:cs typeface="Times New Roman" panose="02020603050405020304" pitchFamily="18" charset="0"/>
                <a:sym typeface="Montserrat Bold"/>
              </a:rPr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5F930A-6713-3945-7201-97814BF1452A}"/>
              </a:ext>
            </a:extLst>
          </p:cNvPr>
          <p:cNvSpPr txBox="1"/>
          <p:nvPr/>
        </p:nvSpPr>
        <p:spPr>
          <a:xfrm>
            <a:off x="13722511" y="934314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318DF358-DA29-CB81-50DD-F9571F2D4856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Aaditiya Tyagi                              Paper ID : 2014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04A094-F2BF-5D29-E796-7D10BDDDC662}"/>
              </a:ext>
            </a:extLst>
          </p:cNvPr>
          <p:cNvSpPr txBox="1"/>
          <p:nvPr/>
        </p:nvSpPr>
        <p:spPr>
          <a:xfrm>
            <a:off x="609600" y="2324100"/>
            <a:ext cx="17087896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+mj-lt"/>
              <a:buAutoNum type="arabicPeriod"/>
            </a:pPr>
            <a:r>
              <a:rPr lang="en-US" sz="2400" dirty="0"/>
              <a:t>A. Baig, “The role of technology in enhancing access to justice: Challenges and opportunities in the 21st century,” </a:t>
            </a:r>
            <a:r>
              <a:rPr lang="en-US" sz="2400" i="1" dirty="0"/>
              <a:t>AL-AASAR Journal: Quarterly Research Journal</a:t>
            </a:r>
            <a:r>
              <a:rPr lang="en-US" sz="2400" dirty="0"/>
              <a:t>, vol. 2, no. 1, pp. 774–779, 2025.</a:t>
            </a:r>
            <a:endParaRPr lang="en-IN" sz="2400" dirty="0"/>
          </a:p>
          <a:p>
            <a:pPr marL="342900" lvl="0" indent="-342900" algn="just">
              <a:buFont typeface="+mj-lt"/>
              <a:buAutoNum type="arabicPeriod"/>
            </a:pPr>
            <a:r>
              <a:rPr lang="en-US" sz="2400" dirty="0"/>
              <a:t>D. </a:t>
            </a:r>
            <a:r>
              <a:rPr lang="en-US" sz="2400" dirty="0" err="1"/>
              <a:t>Pitaloka</a:t>
            </a:r>
            <a:r>
              <a:rPr lang="en-US" sz="2400" dirty="0"/>
              <a:t>, “E-court: A digital disruption in law enforcement and its impact on judicial efficiency in Indonesia,” </a:t>
            </a:r>
            <a:r>
              <a:rPr lang="en-US" sz="2400" i="1" dirty="0"/>
              <a:t>Ex Aequo Et Bono Journal of Law (EAEBJOL)</a:t>
            </a:r>
            <a:r>
              <a:rPr lang="en-US" sz="2400" dirty="0"/>
              <a:t>, vol. 2, no. 2, pp. 82–95, 2025. </a:t>
            </a:r>
            <a:r>
              <a:rPr lang="en-US" sz="2400" dirty="0" err="1"/>
              <a:t>doi</a:t>
            </a:r>
            <a:r>
              <a:rPr lang="en-US" sz="2400" dirty="0"/>
              <a:t>: 10.61511/eaebjol.v2i2.2025.1404.</a:t>
            </a:r>
            <a:endParaRPr lang="en-IN" sz="2400" dirty="0"/>
          </a:p>
          <a:p>
            <a:pPr marL="342900" lvl="0" indent="-342900" algn="just">
              <a:buFont typeface="+mj-lt"/>
              <a:buAutoNum type="arabicPeriod"/>
            </a:pPr>
            <a:r>
              <a:rPr lang="en-US" sz="2400" dirty="0"/>
              <a:t>D. </a:t>
            </a:r>
            <a:r>
              <a:rPr lang="en-US" sz="2400" dirty="0" err="1"/>
              <a:t>Putranti</a:t>
            </a:r>
            <a:r>
              <a:rPr lang="en-US" sz="2400" dirty="0"/>
              <a:t>, U. T. Putri, A. </a:t>
            </a:r>
            <a:r>
              <a:rPr lang="en-US" sz="2400" dirty="0" err="1"/>
              <a:t>Prahara</a:t>
            </a:r>
            <a:r>
              <a:rPr lang="en-US" sz="2400" dirty="0"/>
              <a:t>, and M. S. Quddus, “Proposing digital copyright infringements enforcement through Internet Court in Indonesia: Fostering the existing E-Court system,” </a:t>
            </a:r>
            <a:r>
              <a:rPr lang="en-US" sz="2400" i="1" dirty="0"/>
              <a:t>E3S Web of Conferences</a:t>
            </a:r>
            <a:r>
              <a:rPr lang="en-US" sz="2400" dirty="0"/>
              <a:t>, vol. 622, p. 03006, 2025. </a:t>
            </a:r>
            <a:r>
              <a:rPr lang="en-US" sz="2400" dirty="0" err="1"/>
              <a:t>doi</a:t>
            </a:r>
            <a:r>
              <a:rPr lang="en-US" sz="2400" dirty="0"/>
              <a:t>: 10.1051/e3sconf/202562203006.</a:t>
            </a:r>
            <a:endParaRPr lang="en-IN" sz="2400" dirty="0"/>
          </a:p>
          <a:p>
            <a:pPr marL="342900" lvl="0" indent="-342900" algn="just">
              <a:buFont typeface="+mj-lt"/>
              <a:buAutoNum type="arabicPeriod"/>
            </a:pPr>
            <a:r>
              <a:rPr lang="en-US" sz="2400" dirty="0"/>
              <a:t>F. A. A. C. Campos, J. C. B. Silva, F. B. Feitosa, I. O. Reis, E. C. </a:t>
            </a:r>
            <a:r>
              <a:rPr lang="en-US" sz="2400" dirty="0" err="1"/>
              <a:t>Caritá</a:t>
            </a:r>
            <a:r>
              <a:rPr lang="en-US" sz="2400" dirty="0"/>
              <a:t>, M. F. Moll, C. A. A. Ventura, and J. C. Sánchez, “Theoretical and bioethical foundations for the development of the psychosocial rehabilitation project application,” </a:t>
            </a:r>
            <a:r>
              <a:rPr lang="en-US" sz="2400" i="1" dirty="0" err="1"/>
              <a:t>Saúde</a:t>
            </a:r>
            <a:r>
              <a:rPr lang="en-US" sz="2400" i="1" dirty="0"/>
              <a:t> </a:t>
            </a:r>
            <a:r>
              <a:rPr lang="en-US" sz="2400" i="1" dirty="0" err="1"/>
              <a:t>em</a:t>
            </a:r>
            <a:r>
              <a:rPr lang="en-US" sz="2400" i="1" dirty="0"/>
              <a:t> Redes Journal</a:t>
            </a:r>
            <a:r>
              <a:rPr lang="en-US" sz="2400" dirty="0"/>
              <a:t>, vol. 11, no. 1, pp. 1–18, Feb. 2025. </a:t>
            </a:r>
            <a:r>
              <a:rPr lang="en-US" sz="2400" dirty="0" err="1"/>
              <a:t>doi</a:t>
            </a:r>
            <a:r>
              <a:rPr lang="en-US" sz="2400" dirty="0"/>
              <a:t>: 10.18310/2446-4813.2025v11n1.4430.</a:t>
            </a:r>
            <a:endParaRPr lang="en-IN" sz="2400" dirty="0"/>
          </a:p>
          <a:p>
            <a:pPr marL="342900" lvl="0" indent="-342900" algn="just">
              <a:buFont typeface="+mj-lt"/>
              <a:buAutoNum type="arabicPeriod"/>
            </a:pPr>
            <a:r>
              <a:rPr lang="en-US" sz="2400" dirty="0"/>
              <a:t>Y. D. </a:t>
            </a:r>
            <a:r>
              <a:rPr lang="en-US" sz="2400" dirty="0" err="1"/>
              <a:t>Prasetyo</a:t>
            </a:r>
            <a:r>
              <a:rPr lang="en-US" sz="2400" dirty="0"/>
              <a:t>, D. </a:t>
            </a:r>
            <a:r>
              <a:rPr lang="en-US" sz="2400" dirty="0" err="1"/>
              <a:t>Muhtada</a:t>
            </a:r>
            <a:r>
              <a:rPr lang="en-US" sz="2400" dirty="0"/>
              <a:t>, and </a:t>
            </a:r>
            <a:r>
              <a:rPr lang="en-US" sz="2400" dirty="0" err="1"/>
              <a:t>Martitah</a:t>
            </a:r>
            <a:r>
              <a:rPr lang="en-US" sz="2400" dirty="0"/>
              <a:t>, “The effectiveness of using e-court services in realizing electronic religious courts,” </a:t>
            </a:r>
            <a:r>
              <a:rPr lang="en-US" sz="2400" i="1" dirty="0" err="1"/>
              <a:t>Eduvest</a:t>
            </a:r>
            <a:r>
              <a:rPr lang="en-US" sz="2400" i="1" dirty="0"/>
              <a:t> – Journal of Universal Studies</a:t>
            </a:r>
            <a:r>
              <a:rPr lang="en-US" sz="2400" dirty="0"/>
              <a:t>, vol. 5, no. 4, pp. 4415–4431, Apr. 2025.</a:t>
            </a:r>
            <a:endParaRPr lang="en-IN" sz="2400" dirty="0"/>
          </a:p>
          <a:p>
            <a:pPr marL="342900" lvl="0" indent="-342900" algn="just">
              <a:buFont typeface="+mj-lt"/>
              <a:buAutoNum type="arabicPeriod"/>
            </a:pPr>
            <a:r>
              <a:rPr lang="en-US" sz="2400" dirty="0"/>
              <a:t>R. Nababan, B. </a:t>
            </a:r>
            <a:r>
              <a:rPr lang="en-US" sz="2400" dirty="0" err="1"/>
              <a:t>Habeahan</a:t>
            </a:r>
            <a:r>
              <a:rPr lang="en-US" sz="2400" dirty="0"/>
              <a:t>, H. Siregar, and F. M. Simanjuntak, “The existence of online trials (electronic court) in civil cases in Medan State Court, Indonesia,” </a:t>
            </a:r>
            <a:r>
              <a:rPr lang="en-US" sz="2400" i="1" dirty="0"/>
              <a:t>Golden Ratio of Law and Social Policy Review</a:t>
            </a:r>
            <a:r>
              <a:rPr lang="en-US" sz="2400" dirty="0"/>
              <a:t>, vol. 4, no. 2, pp. 83–97, 2025. </a:t>
            </a:r>
            <a:r>
              <a:rPr lang="en-US" sz="2400" dirty="0" err="1"/>
              <a:t>doi</a:t>
            </a:r>
            <a:r>
              <a:rPr lang="en-US" sz="2400" dirty="0"/>
              <a:t>: 10.52970/grlspr.v4i2.929.</a:t>
            </a:r>
            <a:endParaRPr lang="en-IN" sz="2400" dirty="0"/>
          </a:p>
          <a:p>
            <a:pPr marL="342900" lvl="0" indent="-342900" algn="just">
              <a:buFont typeface="+mj-lt"/>
              <a:buAutoNum type="arabicPeriod"/>
            </a:pPr>
            <a:r>
              <a:rPr lang="en-US" sz="2400" dirty="0"/>
              <a:t>H. A. A. Jaber, “Improving security for the Libyan e-government portal: A multi-factor authentication model utilizing NID-SIM linkage,” </a:t>
            </a:r>
            <a:r>
              <a:rPr lang="en-US" sz="2400" i="1" dirty="0"/>
              <a:t>Libyan Journal of Informatics</a:t>
            </a:r>
            <a:r>
              <a:rPr lang="en-US" sz="2400" dirty="0"/>
              <a:t>, vol. 2, no. 1, pp. 43–53, Jun. 2025.</a:t>
            </a:r>
            <a:endParaRPr lang="en-IN" sz="2400" dirty="0"/>
          </a:p>
          <a:p>
            <a:pPr algn="just">
              <a:spcAft>
                <a:spcPts val="6500"/>
              </a:spcAf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364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78F5D-0B74-712F-E431-A7794B736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F2B3CEF4-B2EE-3545-87AB-F9A696E9258D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BA62EC38-9C7E-9595-9600-4B68F9B60E4C}"/>
              </a:ext>
            </a:extLst>
          </p:cNvPr>
          <p:cNvGrpSpPr/>
          <p:nvPr/>
        </p:nvGrpSpPr>
        <p:grpSpPr>
          <a:xfrm>
            <a:off x="219415" y="615206"/>
            <a:ext cx="17839985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3B977A68-AAF0-3FD5-AB96-8A8195744E2F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D955E7AF-FA51-B679-C801-62383C8C7D69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8B7D0F22-F919-67F8-51D3-AB156059F8CC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39748592-1658-3600-ED20-191F687E35DD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9ADBE5C6-7C79-87E0-7169-D3FD46AC3C1A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2FC7DCED-BC5B-02E2-05EB-41B88A8A374C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7144C71D-A7AB-9D93-D6A1-C1B2C4699208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01104CB0-5B02-A725-F709-04B7942169C7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7CE6338-F117-3ADF-F4F9-6676A96D5C4A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482D0B5F-170F-2879-5DAE-A4A04E657384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18</a:t>
            </a:r>
            <a:endParaRPr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0AADE800-3A62-98EA-1670-1F28F666E55D}"/>
              </a:ext>
            </a:extLst>
          </p:cNvPr>
          <p:cNvSpPr txBox="1"/>
          <p:nvPr/>
        </p:nvSpPr>
        <p:spPr>
          <a:xfrm>
            <a:off x="609600" y="668484"/>
            <a:ext cx="13932080" cy="8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chemeClr val="bg1"/>
                </a:solidFill>
                <a:latin typeface="Montserrat Bold" panose="020B0604020202020204" charset="0"/>
                <a:ea typeface="Montserrat Bold"/>
                <a:cs typeface="Times New Roman" panose="02020603050405020304" pitchFamily="18" charset="0"/>
                <a:sym typeface="Montserrat Bold"/>
              </a:rPr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F5B40E-98D7-478A-436D-7A7952DD48F8}"/>
              </a:ext>
            </a:extLst>
          </p:cNvPr>
          <p:cNvSpPr txBox="1"/>
          <p:nvPr/>
        </p:nvSpPr>
        <p:spPr>
          <a:xfrm>
            <a:off x="13722511" y="934314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184C5171-B976-1EFF-2BDE-84B60DB7FCCF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Aaditiya Tyagi                              Paper ID : 2014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A7F353-CB4E-8FF3-55BA-4F84B2DE5784}"/>
              </a:ext>
            </a:extLst>
          </p:cNvPr>
          <p:cNvSpPr txBox="1"/>
          <p:nvPr/>
        </p:nvSpPr>
        <p:spPr>
          <a:xfrm>
            <a:off x="609600" y="2324100"/>
            <a:ext cx="1708789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CH. Prabhavati, A. Mounika, G. Devi Sri, K. Lahari, and K. V. Krishna, “Legal Connect: e-Portal for Facilitating Case Management Hearings of Various Types of Cases,” </a:t>
            </a:r>
            <a:r>
              <a:rPr lang="en-US" sz="2400" i="1" dirty="0"/>
              <a:t>Int. J. Eng. Sci. Adv. Technol. (IJESAT)</a:t>
            </a:r>
            <a:r>
              <a:rPr lang="en-US" sz="2400" dirty="0"/>
              <a:t>, vol. 24, no. 5, pp. 322–327, May 2024.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 P. Saxena, “Technological innovations in India’s legal sector for access to justice during and post pandemic,” in </a:t>
            </a:r>
            <a:r>
              <a:rPr lang="en-US" sz="2400" i="1" dirty="0"/>
              <a:t>2023 Law and Development Conference</a:t>
            </a:r>
            <a:r>
              <a:rPr lang="en-US" sz="2400" dirty="0"/>
              <a:t>, Singapore, Dec. 2023.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A. </a:t>
            </a:r>
            <a:r>
              <a:rPr lang="en-US" sz="2400" dirty="0" err="1"/>
              <a:t>Maralbaeva</a:t>
            </a:r>
            <a:r>
              <a:rPr lang="en-US" sz="2400" dirty="0"/>
              <a:t>, </a:t>
            </a:r>
            <a:r>
              <a:rPr lang="en-US" sz="2400" i="1" dirty="0"/>
              <a:t>E-justice and Cyber Security: Balancing between Openness of the Courts and Data Protection in Kyrgyzstan</a:t>
            </a:r>
            <a:r>
              <a:rPr lang="en-US" sz="2400" dirty="0"/>
              <a:t>. United Nations Development </a:t>
            </a:r>
            <a:r>
              <a:rPr lang="en-US" sz="2400" dirty="0" err="1"/>
              <a:t>Programme</a:t>
            </a:r>
            <a:r>
              <a:rPr lang="en-US" sz="2400" dirty="0"/>
              <a:t> (UNDP), 2022. [Online]. Available: Link.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R. K. Ahmed, O. Ahmed, I. Pappel, A. </a:t>
            </a:r>
            <a:r>
              <a:rPr lang="en-US" sz="2400" dirty="0" err="1"/>
              <a:t>Reitsakas</a:t>
            </a:r>
            <a:r>
              <a:rPr lang="en-US" sz="2400" dirty="0"/>
              <a:t>, and D. Draheim, “The role of digital transformation in fostering transparency: An e-Court system case study,” in </a:t>
            </a:r>
            <a:r>
              <a:rPr lang="en-US" sz="2400" i="1" dirty="0"/>
              <a:t>Lecture Notes in Computer Science</a:t>
            </a:r>
            <a:r>
              <a:rPr lang="en-US" sz="2400" dirty="0"/>
              <a:t>. Cham, Switzerland: Springer Nature, Sep. 2022, </a:t>
            </a:r>
            <a:r>
              <a:rPr lang="en-US" sz="2400" dirty="0" err="1"/>
              <a:t>doi</a:t>
            </a:r>
            <a:r>
              <a:rPr lang="en-US" sz="2400" dirty="0"/>
              <a:t>: 10.1007/978-3-031-15342-6_17.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C.-L. Lee, “E-justice in Taiwan: The derivative inquiries from constitutional perspectives in the digital age,” </a:t>
            </a:r>
            <a:r>
              <a:rPr lang="en-US" sz="2400" i="1" dirty="0" err="1"/>
              <a:t>Ritsumeikan</a:t>
            </a:r>
            <a:r>
              <a:rPr lang="en-US" sz="2400" i="1" dirty="0"/>
              <a:t> Law Rev.</a:t>
            </a:r>
            <a:r>
              <a:rPr lang="en-US" sz="2400" dirty="0"/>
              <a:t>, no. 40, pp. 55–67, 2022.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B. G. S. </a:t>
            </a:r>
            <a:r>
              <a:rPr lang="en-US" sz="2400" dirty="0" err="1"/>
              <a:t>Grepon</a:t>
            </a:r>
            <a:r>
              <a:rPr lang="en-US" sz="2400" dirty="0"/>
              <a:t>, “Designing and implementing e-justice systems: An information systems approach to regional trial court case docket management in Northern Mindanao, Philippines,” </a:t>
            </a:r>
            <a:r>
              <a:rPr lang="en-US" sz="2400" i="1" dirty="0"/>
              <a:t>Int. J. </a:t>
            </a:r>
            <a:r>
              <a:rPr lang="en-US" sz="2400" i="1" dirty="0" err="1"/>
              <a:t>Multidiscip</a:t>
            </a:r>
            <a:r>
              <a:rPr lang="en-US" sz="2400" i="1" dirty="0"/>
              <a:t>. Acad. Res.</a:t>
            </a:r>
            <a:r>
              <a:rPr lang="en-US" sz="2400" dirty="0"/>
              <a:t>, vol. 8, no. 1, 2020.</a:t>
            </a:r>
            <a:endParaRPr lang="en-IN" sz="2400" dirty="0"/>
          </a:p>
          <a:p>
            <a:pPr algn="just">
              <a:spcAft>
                <a:spcPts val="6500"/>
              </a:spcAf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076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6">
            <a:extLst>
              <a:ext uri="{FF2B5EF4-FFF2-40B4-BE49-F238E27FC236}">
                <a16:creationId xmlns:a16="http://schemas.microsoft.com/office/drawing/2014/main" id="{B85FA685-A75E-4F3B-B80D-C22DFADFFDC0}"/>
              </a:ext>
            </a:extLst>
          </p:cNvPr>
          <p:cNvSpPr txBox="1"/>
          <p:nvPr/>
        </p:nvSpPr>
        <p:spPr>
          <a:xfrm>
            <a:off x="-231041" y="9297443"/>
            <a:ext cx="17478081" cy="710279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 dirty="0">
              <a:solidFill>
                <a:schemeClr val="bg1"/>
              </a:solidFill>
            </a:endParaRP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42661201-4BFD-4855-85F2-00291465ADC8}"/>
              </a:ext>
            </a:extLst>
          </p:cNvPr>
          <p:cNvGrpSpPr/>
          <p:nvPr/>
        </p:nvGrpSpPr>
        <p:grpSpPr>
          <a:xfrm>
            <a:off x="219415" y="615206"/>
            <a:ext cx="17839985" cy="1251694"/>
            <a:chOff x="0" y="0"/>
            <a:chExt cx="3730359" cy="406400"/>
          </a:xfrm>
          <a:solidFill>
            <a:srgbClr val="00206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4E30FD43-EAEA-4CBE-BA5F-60A2E5344831}"/>
                </a:ext>
              </a:extLst>
            </p:cNvPr>
            <p:cNvSpPr/>
            <p:nvPr/>
          </p:nvSpPr>
          <p:spPr>
            <a:xfrm>
              <a:off x="0" y="0"/>
              <a:ext cx="3730359" cy="406400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433005B2-45FF-412D-9F4A-B3B9944F169E}"/>
                </a:ext>
              </a:extLst>
            </p:cNvPr>
            <p:cNvSpPr txBox="1"/>
            <p:nvPr/>
          </p:nvSpPr>
          <p:spPr>
            <a:xfrm>
              <a:off x="0" y="-76200"/>
              <a:ext cx="3730359" cy="482600"/>
            </a:xfrm>
            <a:prstGeom prst="round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F3A67949-19A8-4EEC-AC2E-3237C5579EB1}"/>
              </a:ext>
            </a:extLst>
          </p:cNvPr>
          <p:cNvGrpSpPr/>
          <p:nvPr/>
        </p:nvGrpSpPr>
        <p:grpSpPr>
          <a:xfrm>
            <a:off x="16707939" y="575103"/>
            <a:ext cx="1122862" cy="1113129"/>
            <a:chOff x="0" y="0"/>
            <a:chExt cx="13716000" cy="13716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835472C3-FCAE-447E-BE13-E5093B367B42}"/>
                </a:ext>
              </a:extLst>
            </p:cNvPr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6084D578-3175-4F87-8A89-98D4E40190D3}"/>
              </a:ext>
            </a:extLst>
          </p:cNvPr>
          <p:cNvGrpSpPr/>
          <p:nvPr/>
        </p:nvGrpSpPr>
        <p:grpSpPr>
          <a:xfrm>
            <a:off x="14096999" y="491620"/>
            <a:ext cx="2444845" cy="1196611"/>
            <a:chOff x="0" y="0"/>
            <a:chExt cx="4550739" cy="2057400"/>
          </a:xfrm>
        </p:grpSpPr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7BADACFF-0115-4233-8374-D5916AB2EDF5}"/>
                </a:ext>
              </a:extLst>
            </p:cNvPr>
            <p:cNvGrpSpPr/>
            <p:nvPr/>
          </p:nvGrpSpPr>
          <p:grpSpPr>
            <a:xfrm rot="-10800000">
              <a:off x="0" y="0"/>
              <a:ext cx="4550739" cy="2057400"/>
              <a:chOff x="0" y="0"/>
              <a:chExt cx="898911" cy="406400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7FABE79F-67A2-4303-B71C-9DEF1F606E45}"/>
                  </a:ext>
                </a:extLst>
              </p:cNvPr>
              <p:cNvSpPr/>
              <p:nvPr/>
            </p:nvSpPr>
            <p:spPr>
              <a:xfrm>
                <a:off x="0" y="0"/>
                <a:ext cx="89891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98911" h="406400">
                    <a:moveTo>
                      <a:pt x="695711" y="0"/>
                    </a:moveTo>
                    <a:cubicBezTo>
                      <a:pt x="807936" y="0"/>
                      <a:pt x="898911" y="90976"/>
                      <a:pt x="898911" y="203200"/>
                    </a:cubicBezTo>
                    <a:cubicBezTo>
                      <a:pt x="898911" y="315424"/>
                      <a:pt x="807936" y="406400"/>
                      <a:pt x="69571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2DB7820C-D1CE-456A-AC35-DE3C6D8EDC90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898911" cy="48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36155CC-BEE4-41B5-8B41-55840F2DCD35}"/>
                </a:ext>
              </a:extLst>
            </p:cNvPr>
            <p:cNvSpPr/>
            <p:nvPr/>
          </p:nvSpPr>
          <p:spPr>
            <a:xfrm>
              <a:off x="827712" y="350848"/>
              <a:ext cx="2895315" cy="1364320"/>
            </a:xfrm>
            <a:custGeom>
              <a:avLst/>
              <a:gdLst/>
              <a:ahLst/>
              <a:cxnLst/>
              <a:rect l="l" t="t" r="r" b="b"/>
              <a:pathLst>
                <a:path w="2714456" h="1530827">
                  <a:moveTo>
                    <a:pt x="0" y="0"/>
                  </a:moveTo>
                  <a:lnTo>
                    <a:pt x="2714457" y="0"/>
                  </a:lnTo>
                  <a:lnTo>
                    <a:pt x="2714457" y="1530827"/>
                  </a:lnTo>
                  <a:lnTo>
                    <a:pt x="0" y="153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2" name="TextBox 16">
            <a:extLst>
              <a:ext uri="{FF2B5EF4-FFF2-40B4-BE49-F238E27FC236}">
                <a16:creationId xmlns:a16="http://schemas.microsoft.com/office/drawing/2014/main" id="{506FB363-85E8-41E3-8491-A6B4112A9D38}"/>
              </a:ext>
            </a:extLst>
          </p:cNvPr>
          <p:cNvSpPr txBox="1"/>
          <p:nvPr/>
        </p:nvSpPr>
        <p:spPr>
          <a:xfrm>
            <a:off x="17247040" y="9297443"/>
            <a:ext cx="1291096" cy="710280"/>
          </a:xfrm>
          <a:prstGeom prst="parallelogram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r>
              <a:rPr lang="en-IN" sz="2800" dirty="0">
                <a:solidFill>
                  <a:schemeClr val="bg1"/>
                </a:solidFill>
                <a:latin typeface="Century Schoolbook" panose="02040604050505020304" pitchFamily="18" charset="0"/>
              </a:rPr>
              <a:t>19</a:t>
            </a:r>
            <a:endParaRPr sz="28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F06AF9-DA0E-6BB0-298E-1974A01D9696}"/>
              </a:ext>
            </a:extLst>
          </p:cNvPr>
          <p:cNvSpPr txBox="1"/>
          <p:nvPr/>
        </p:nvSpPr>
        <p:spPr>
          <a:xfrm>
            <a:off x="13722511" y="9420880"/>
            <a:ext cx="329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IC3ECSBHI-2026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92866656-EAD2-9259-D538-B6860E88A971}"/>
              </a:ext>
            </a:extLst>
          </p:cNvPr>
          <p:cNvSpPr txBox="1"/>
          <p:nvPr/>
        </p:nvSpPr>
        <p:spPr>
          <a:xfrm>
            <a:off x="219415" y="9556726"/>
            <a:ext cx="17478081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sym typeface="Telegraf"/>
              </a:rPr>
              <a:t>Presenting Author :  Aaditiya Tyagi                            Paper ID : 2014</a:t>
            </a:r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D281952B-976D-1360-7CDC-CBFE1BE4B077}"/>
              </a:ext>
            </a:extLst>
          </p:cNvPr>
          <p:cNvSpPr txBox="1"/>
          <p:nvPr/>
        </p:nvSpPr>
        <p:spPr>
          <a:xfrm>
            <a:off x="4523660" y="4614252"/>
            <a:ext cx="8841244" cy="1026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73"/>
              </a:lnSpc>
              <a:spcBef>
                <a:spcPct val="0"/>
              </a:spcBef>
            </a:pPr>
            <a:r>
              <a:rPr lang="en-US" sz="6000" dirty="0"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Thank You......</a:t>
            </a:r>
          </a:p>
        </p:txBody>
      </p:sp>
    </p:spTree>
    <p:extLst>
      <p:ext uri="{BB962C8B-B14F-4D97-AF65-F5344CB8AC3E}">
        <p14:creationId xmlns:p14="http://schemas.microsoft.com/office/powerpoint/2010/main" val="2807207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</TotalTime>
  <Words>1935</Words>
  <Application>Microsoft Office PowerPoint</Application>
  <PresentationFormat>Custom</PresentationFormat>
  <Paragraphs>249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Calibri Light</vt:lpstr>
      <vt:lpstr>Telegraf</vt:lpstr>
      <vt:lpstr>Times New Roman</vt:lpstr>
      <vt:lpstr>Century Schoolbook</vt:lpstr>
      <vt:lpstr>Montserrat</vt:lpstr>
      <vt:lpstr>Poppins</vt:lpstr>
      <vt:lpstr>Montserrat Bold</vt:lpstr>
      <vt:lpstr>Telegraf Bold</vt:lpstr>
      <vt:lpstr>Calibri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IC3ECSBHI-2025</dc:title>
  <dc:creator>Ashish Kumar</dc:creator>
  <cp:lastModifiedBy>Aaditiya Tyagi</cp:lastModifiedBy>
  <cp:revision>26</cp:revision>
  <dcterms:created xsi:type="dcterms:W3CDTF">2006-08-16T00:00:00Z</dcterms:created>
  <dcterms:modified xsi:type="dcterms:W3CDTF">2026-01-29T19:11:39Z</dcterms:modified>
  <dc:identifier>DAGbIM-lVJY</dc:identifier>
</cp:coreProperties>
</file>