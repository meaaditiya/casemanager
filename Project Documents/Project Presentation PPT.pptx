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29" r:id="rId1"/>
  </p:sldMasterIdLst>
  <p:notesMasterIdLst>
    <p:notesMasterId r:id="rId16"/>
  </p:notesMasterIdLst>
  <p:sldIdLst>
    <p:sldId id="256" r:id="rId2"/>
    <p:sldId id="289" r:id="rId3"/>
    <p:sldId id="280" r:id="rId4"/>
    <p:sldId id="259" r:id="rId5"/>
    <p:sldId id="260" r:id="rId6"/>
    <p:sldId id="286" r:id="rId7"/>
    <p:sldId id="288" r:id="rId8"/>
    <p:sldId id="287" r:id="rId9"/>
    <p:sldId id="282" r:id="rId10"/>
    <p:sldId id="261" r:id="rId11"/>
    <p:sldId id="264" r:id="rId12"/>
    <p:sldId id="277" r:id="rId13"/>
    <p:sldId id="269" r:id="rId14"/>
    <p:sldId id="265" r:id="rId15"/>
  </p:sldIdLst>
  <p:sldSz cx="18288000" cy="10287000"/>
  <p:notesSz cx="6858000" cy="9144000"/>
  <p:embeddedFontLst>
    <p:embeddedFont>
      <p:font typeface="Playfair Display Bold" panose="020B0604020202020204" charset="0"/>
      <p:bold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</p:embeddedFont>
    <p:embeddedFont>
      <p:font typeface="Poppins Medium" panose="00000600000000000000" pitchFamily="2" charset="0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B7B7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2" autoAdjust="0"/>
  </p:normalViewPr>
  <p:slideViewPr>
    <p:cSldViewPr>
      <p:cViewPr varScale="1">
        <p:scale>
          <a:sx n="51" d="100"/>
          <a:sy n="51" d="100"/>
        </p:scale>
        <p:origin x="88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1FCB1-8FD1-46DD-B772-65EEE28E4984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3891D-CC92-449A-A16A-1E9C94253F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5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F2503-5513-D23D-7FF4-8C1003E6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5C403-EF3C-C751-720E-E2B94E5C8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A8941-5633-18C2-6587-3BCFBAF0C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B1F80-E237-0D83-A358-5FF4D01B3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3891D-CC92-449A-A16A-1E9C94253F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850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3753-C260-00BA-2C25-792C9802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729CC-A86E-BB71-FAEB-2FA49E923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DC056-865A-4152-0703-C96C9B637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D6B29-3D44-1CD5-5DB6-D9A60224F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47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3891D-CC92-449A-A16A-1E9C94253F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230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759D-A0A1-9710-7AB9-115D89CCD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777A6-1E50-72B6-7173-C19C64C2D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48BA4-9F03-6B46-EC4D-90435A24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4F89C-74FD-48F8-8B91-40F3FF19096D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83B50-BAA0-D486-3984-D41F23B7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D1CBF-3686-756E-EF0F-EF4D0228D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2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C7AB-A79F-705E-E7C2-4AAA8BA5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2360E-54BB-D742-0275-2120F8B89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5563A-5948-0DCE-0AF1-BFC12600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1990-23BD-43B7-A4F2-26B1038985F3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3C21-C2AA-0169-C802-6C971B92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69B4A-A55D-16AB-2CC0-16B7E599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6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8F1A-6B77-21B6-0E31-1198EF35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68806-70F1-F5A4-1691-35E8A7D06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799BF-0F59-7FD8-F4EE-3990C4A2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D969-4A75-48B0-B84E-269612490F1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9F2D0-2533-B1AB-8D4E-9496D524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14550-BA88-EAF1-40E6-0D9ABE5D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9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1BFA-48C6-864F-D703-1E2F6EE1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6EAB-E67C-21DE-5936-5F48B1F59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D6F0E-8754-6BC0-922B-9FF5A827D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54ED4-5181-9345-8067-A831DA8F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508E-8F41-4FDC-8616-9928FF930363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E5F03-B9FB-7F21-2A42-9FEFF183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E1251-1E3B-7E3F-4AC3-E8453D59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50BA-6174-E27F-F0DF-96CE2C64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8CB43-5709-19D0-332F-1BD7F18F7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4ED45-5518-FEEA-14E0-1E721822F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D2B08-EA56-7AF9-2D85-C52DCF27B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34DB5-317E-900F-A535-A23FE2921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1F004-8546-98D9-91AA-AD029A7A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E60F-46BD-46ED-B0DC-D61AAC9F94C6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01385-9008-0B3B-23A1-7750C000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66BF9-1ADF-BC43-44A5-60627075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26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FECC-A649-174A-6006-BBA17269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B6F4F-C60F-B8C7-8222-E65C5234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D612-1356-4095-BACC-69ABA0108D29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55187-7DEE-D284-50E6-56D931F0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3954E-8F2B-65F2-1F1C-6C3E014D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9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3D9AC-30C9-8B65-A300-5997E97D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F8C9-6F93-4E56-A46A-1E3C73B5CC4B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3D1D6-A660-1835-36AF-E8AD0640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E7B8E-573F-9A38-55F9-B017E0B7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9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0D744-887C-8BF6-7BD9-3DD91E34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10F5-385D-4419-A89A-97F0244FE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81BC9-E5CA-EDCB-75F8-946796999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5BCA9-6AAE-F0DC-768A-0232CDCA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B0C2A-A86B-4452-9AE8-F0FF7A615383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27EBE-B238-C2B6-ABFC-F0BA5C21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4356E-C06D-B1BD-C0D2-9B274E34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4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2747-5C8A-B8AA-BC15-F91353E9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28958-2DC3-6AF0-DD60-429D0A8A6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E1573-4570-D0D4-2703-21612BEB4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50817-5ED1-ECF1-749B-A64A0AA2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42CEF-1A35-4625-8022-1342FBC561F3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81075-7296-1F19-EE54-B935F45D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589E7-8D0F-B8FD-7FDD-BB31D7D4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5074-6EB1-DCB3-D590-9C490E46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AA558-57EA-A6F8-374D-B1B0BBE61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5F922-F507-12AF-E766-DC4E3934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8541-03B8-4FFB-BA0D-E112C2959BEB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D0622-ADB6-AAEA-9B81-B19A7F75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D08FC-23DD-B11F-6392-DED842D1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3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09ABA2-3493-DCE9-1390-684434B7F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B13D6-64B3-95EE-AF7E-5CFB38449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610B-092B-9CF6-7538-67AC62C7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25E9A-EDE7-4130-8A16-0FABCFD21CFE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2C715-116F-24D5-2565-743AB1AF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32F4C-C938-76A1-63E9-E4B09D96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50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985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8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3E2C8-6630-908F-B74B-9235C4F4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E90A4-AC21-4105-BF31-129120108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E77B-557C-D304-0DD6-4FDB7F01A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186D0-9D49-4F66-AA1D-1F2D4EED6480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EAB7D-D01D-2BC7-10C1-A27B01402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01D64-AB33-6FC1-53D2-02F5F23FA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8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3009001" y="1276141"/>
            <a:ext cx="6213181" cy="1574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3"/>
              </a:lnSpc>
              <a:spcBef>
                <a:spcPct val="0"/>
              </a:spcBef>
            </a:pPr>
            <a:endParaRPr lang="en-US" sz="4474" spc="290" dirty="0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6263"/>
              </a:lnSpc>
              <a:spcBef>
                <a:spcPct val="0"/>
              </a:spcBef>
            </a:pPr>
            <a:endParaRPr lang="en-US" sz="4474" spc="290" dirty="0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28900" y="8747360"/>
            <a:ext cx="6163771" cy="48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  <a:spcBef>
                <a:spcPct val="0"/>
              </a:spcBef>
            </a:pPr>
            <a:endParaRPr lang="en-US" sz="2884" spc="187" dirty="0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04EE8F-537B-D0A2-1773-B3B8D0273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256B64-B4FF-8C56-1F23-16B0379DECE6}"/>
              </a:ext>
            </a:extLst>
          </p:cNvPr>
          <p:cNvSpPr txBox="1"/>
          <p:nvPr/>
        </p:nvSpPr>
        <p:spPr>
          <a:xfrm>
            <a:off x="4080348" y="2314528"/>
            <a:ext cx="8908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Department of Computer Science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2AC801-E9A2-2C4C-ECD7-A0774AE97269}"/>
              </a:ext>
            </a:extLst>
          </p:cNvPr>
          <p:cNvSpPr txBox="1"/>
          <p:nvPr/>
        </p:nvSpPr>
        <p:spPr>
          <a:xfrm>
            <a:off x="2057400" y="3031470"/>
            <a:ext cx="1153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Project Presentation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C7445D-AF95-5B06-7130-C084FB421E93}"/>
              </a:ext>
            </a:extLst>
          </p:cNvPr>
          <p:cNvSpPr txBox="1"/>
          <p:nvPr/>
        </p:nvSpPr>
        <p:spPr>
          <a:xfrm>
            <a:off x="3886200" y="3583920"/>
            <a:ext cx="9296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E-Portal for Case Management Hearing and facilitating of various types of cases</a:t>
            </a:r>
          </a:p>
          <a:p>
            <a:endParaRPr lang="en-IN" sz="4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3200" b="1" dirty="0"/>
              <a:t>                      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39CB2-0B8B-A7A7-8147-1483BCA68BC3}"/>
              </a:ext>
            </a:extLst>
          </p:cNvPr>
          <p:cNvSpPr txBox="1"/>
          <p:nvPr/>
        </p:nvSpPr>
        <p:spPr>
          <a:xfrm>
            <a:off x="3733800" y="5219700"/>
            <a:ext cx="98297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50000"/>
                  </a:schemeClr>
                </a:solidFill>
              </a:rPr>
              <a:t>    </a:t>
            </a:r>
          </a:p>
          <a:p>
            <a:r>
              <a:rPr lang="en-IN" sz="4000" dirty="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Project Guide : Prof. Anmol Jain , Assistant Professor</a:t>
            </a:r>
          </a:p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                               (Dept. of Computer Science)</a:t>
            </a:r>
          </a:p>
          <a:p>
            <a:endParaRPr lang="en-IN" sz="32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    Team Members: Aaditiya Tyagi(2200290120001)</a:t>
            </a:r>
          </a:p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                                 Akash Tiwari(2200290120016)</a:t>
            </a:r>
          </a:p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                                 Akshat Jain (2200290120019)</a:t>
            </a:r>
          </a:p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                                 Ankit Chaudhary(2200290120032)</a:t>
            </a:r>
          </a:p>
          <a:p>
            <a:endParaRPr lang="en-IN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1B02-F43E-867E-E7EC-C536539E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D2F067-5D9A-F751-6169-6696715B7636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B3812D5-4A6A-736B-FF5E-841A74ED9A82}"/>
              </a:ext>
            </a:extLst>
          </p:cNvPr>
          <p:cNvSpPr txBox="1"/>
          <p:nvPr/>
        </p:nvSpPr>
        <p:spPr>
          <a:xfrm>
            <a:off x="14516306" y="2871903"/>
            <a:ext cx="4190588" cy="105039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FB25463-83F5-FB69-7D16-651C5D91AFCA}"/>
              </a:ext>
            </a:extLst>
          </p:cNvPr>
          <p:cNvGrpSpPr/>
          <p:nvPr/>
        </p:nvGrpSpPr>
        <p:grpSpPr>
          <a:xfrm>
            <a:off x="1723106" y="3058274"/>
            <a:ext cx="16564893" cy="6057152"/>
            <a:chOff x="0" y="-57150"/>
            <a:chExt cx="3259076" cy="159529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73E550A-E06E-4ECB-1E94-E0E73689FFA8}"/>
                </a:ext>
              </a:extLst>
            </p:cNvPr>
            <p:cNvSpPr/>
            <p:nvPr/>
          </p:nvSpPr>
          <p:spPr>
            <a:xfrm>
              <a:off x="0" y="0"/>
              <a:ext cx="3259076" cy="1538149"/>
            </a:xfrm>
            <a:custGeom>
              <a:avLst/>
              <a:gdLst/>
              <a:ahLst/>
              <a:cxnLst/>
              <a:rect l="l" t="t" r="r" b="b"/>
              <a:pathLst>
                <a:path w="3259076" h="1538149">
                  <a:moveTo>
                    <a:pt x="0" y="0"/>
                  </a:moveTo>
                  <a:lnTo>
                    <a:pt x="3259076" y="0"/>
                  </a:lnTo>
                  <a:lnTo>
                    <a:pt x="3259076" y="1538149"/>
                  </a:lnTo>
                  <a:lnTo>
                    <a:pt x="0" y="1538149"/>
                  </a:lnTo>
                  <a:close/>
                </a:path>
              </a:pathLst>
            </a:custGeom>
            <a:solidFill>
              <a:srgbClr val="22222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598199-46C8-D746-B22B-082ED03F8622}"/>
                </a:ext>
              </a:extLst>
            </p:cNvPr>
            <p:cNvSpPr txBox="1"/>
            <p:nvPr/>
          </p:nvSpPr>
          <p:spPr>
            <a:xfrm>
              <a:off x="0" y="-57150"/>
              <a:ext cx="3259076" cy="15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BA601C0-64DE-41B2-3E18-6798E5FAECE3}"/>
              </a:ext>
            </a:extLst>
          </p:cNvPr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E9F5BC0-4834-6A9E-CE05-E6D79CACF0F9}"/>
                </a:ext>
              </a:extLst>
            </p:cNvPr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0E5A16C-BE94-A448-C680-D653BA76FF44}"/>
                </a:ext>
              </a:extLst>
            </p:cNvPr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E5FBE97-8219-EC5D-8590-BD5950F6D1AA}"/>
              </a:ext>
            </a:extLst>
          </p:cNvPr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C86B609-BEC1-5698-C7A4-3D34EA63BB16}"/>
                </a:ext>
              </a:extLst>
            </p:cNvPr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A736855-4B68-1976-85E8-CBA4762C3224}"/>
                </a:ext>
              </a:extLst>
            </p:cNvPr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D9B4518-DA13-AC8C-6679-65F2719DA067}"/>
              </a:ext>
            </a:extLst>
          </p:cNvPr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58E0DA4-96CE-E283-C016-F2A2BB22480C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EA58D09-1DB5-816C-D6E5-CC002B9694EC}"/>
                </a:ext>
              </a:extLst>
            </p:cNvPr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FD941D2C-7DE6-80C6-AE07-49A7FBCF5C29}"/>
              </a:ext>
            </a:extLst>
          </p:cNvPr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D247DAB-BC9D-7D46-C4F1-D8034C143A75}"/>
              </a:ext>
            </a:extLst>
          </p:cNvPr>
          <p:cNvSpPr txBox="1"/>
          <p:nvPr/>
        </p:nvSpPr>
        <p:spPr>
          <a:xfrm>
            <a:off x="3530596" y="1943100"/>
            <a:ext cx="9922031" cy="998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8DDD3E-A9D2-9DB5-91B3-07A1D6EA80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60574113-F272-2BFC-B55B-4CBB7727D083}"/>
              </a:ext>
            </a:extLst>
          </p:cNvPr>
          <p:cNvSpPr txBox="1"/>
          <p:nvPr/>
        </p:nvSpPr>
        <p:spPr>
          <a:xfrm>
            <a:off x="1723105" y="3389242"/>
            <a:ext cx="16518187" cy="5412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5633" lvl="1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B612"/>
                <a:cs typeface="Times New Roman" panose="02020603050405020304" pitchFamily="18" charset="0"/>
                <a:sym typeface="B612"/>
              </a:rPr>
              <a:t>The project titled "Development of e-Portal for Facilitating Case Management and Hearings" aims to provide an advanced, web-based.</a:t>
            </a:r>
          </a:p>
          <a:p>
            <a:pPr marL="188433" lvl="1"/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B612"/>
              <a:cs typeface="Times New Roman" panose="02020603050405020304" pitchFamily="18" charset="0"/>
              <a:sym typeface="B612"/>
            </a:endParaRPr>
          </a:p>
          <a:p>
            <a:pPr marL="645633" lvl="1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B612"/>
                <a:cs typeface="Times New Roman" panose="02020603050405020304" pitchFamily="18" charset="0"/>
                <a:sym typeface="B612"/>
              </a:rPr>
              <a:t>platform designed to support the efficient management and.</a:t>
            </a:r>
          </a:p>
          <a:p>
            <a:pPr marL="188433" lvl="1"/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B612"/>
              <a:cs typeface="Times New Roman" panose="02020603050405020304" pitchFamily="18" charset="0"/>
              <a:sym typeface="B612"/>
            </a:endParaRPr>
          </a:p>
          <a:p>
            <a:pPr marL="645633" lvl="1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B612"/>
                <a:cs typeface="Times New Roman" panose="02020603050405020304" pitchFamily="18" charset="0"/>
                <a:sym typeface="B612"/>
              </a:rPr>
              <a:t>adjudication of legal cases. This comprehensive e-Portal will streamline the judicial process by enabling key stakeholders—including judges, lawyers, plaintiffs, and defendants—to conduct case-related activities such as filing, scheduling, and hearing proceedings, all within a secure digital environment.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4037"/>
              </a:lnSpc>
            </a:pPr>
            <a:endParaRPr lang="en-US" sz="2884" spc="187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0197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43DD-9D0B-D329-C4BE-20E998F0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58837E-477F-C428-AA39-0A127CAD63A8}"/>
              </a:ext>
            </a:extLst>
          </p:cNvPr>
          <p:cNvSpPr/>
          <p:nvPr/>
        </p:nvSpPr>
        <p:spPr>
          <a:xfrm>
            <a:off x="992237" y="2494509"/>
            <a:ext cx="7088238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5563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Abstract</a:t>
            </a:r>
            <a:endParaRPr lang="en-US" sz="5563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55E669-C741-179F-9876-CDEFCADF9F85}"/>
              </a:ext>
            </a:extLst>
          </p:cNvPr>
          <p:cNvSpPr/>
          <p:nvPr/>
        </p:nvSpPr>
        <p:spPr>
          <a:xfrm>
            <a:off x="992238" y="408920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Overview</a:t>
            </a:r>
            <a:endParaRPr lang="en-US" sz="2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D6EE22-1AE0-264C-102E-21FFA4279BCC}"/>
              </a:ext>
            </a:extLst>
          </p:cNvPr>
          <p:cNvSpPr/>
          <p:nvPr/>
        </p:nvSpPr>
        <p:spPr>
          <a:xfrm>
            <a:off x="992238" y="4815632"/>
            <a:ext cx="4972645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endParaRPr lang="en-US" sz="2188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6D848C-079C-52F2-C8C1-E7ADBC562FF2}"/>
              </a:ext>
            </a:extLst>
          </p:cNvPr>
          <p:cNvSpPr/>
          <p:nvPr/>
        </p:nvSpPr>
        <p:spPr>
          <a:xfrm>
            <a:off x="5791200" y="408920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Objectives</a:t>
            </a:r>
            <a:endParaRPr lang="en-US" sz="2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A9696A-D145-085A-F89E-1F717B824CA6}"/>
              </a:ext>
            </a:extLst>
          </p:cNvPr>
          <p:cNvSpPr/>
          <p:nvPr/>
        </p:nvSpPr>
        <p:spPr>
          <a:xfrm>
            <a:off x="6666160" y="4815631"/>
            <a:ext cx="497264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endParaRPr lang="en-US" sz="2188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FDA3CD-D09C-9F69-1242-DB8C969F2304}"/>
              </a:ext>
            </a:extLst>
          </p:cNvPr>
          <p:cNvSpPr/>
          <p:nvPr/>
        </p:nvSpPr>
        <p:spPr>
          <a:xfrm>
            <a:off x="12340084" y="4089201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Approach</a:t>
            </a:r>
            <a:endParaRPr lang="en-US" sz="2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F6E02D-5769-5FC7-3B79-A11AF20F2D74}"/>
              </a:ext>
            </a:extLst>
          </p:cNvPr>
          <p:cNvSpPr/>
          <p:nvPr/>
        </p:nvSpPr>
        <p:spPr>
          <a:xfrm>
            <a:off x="12268200" y="4815631"/>
            <a:ext cx="4972645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endParaRPr lang="en-US" sz="2188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5FDF83-2AA0-A73E-F0B3-18EA0AD6B5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785791"/>
          </a:xfrm>
          <a:prstGeom prst="rect">
            <a:avLst/>
          </a:prstGeom>
        </p:spPr>
      </p:pic>
      <p:grpSp>
        <p:nvGrpSpPr>
          <p:cNvPr id="10" name="Group 6">
            <a:extLst>
              <a:ext uri="{FF2B5EF4-FFF2-40B4-BE49-F238E27FC236}">
                <a16:creationId xmlns:a16="http://schemas.microsoft.com/office/drawing/2014/main" id="{C490443B-3852-B3F5-118F-9A1209D793B4}"/>
              </a:ext>
            </a:extLst>
          </p:cNvPr>
          <p:cNvGrpSpPr/>
          <p:nvPr/>
        </p:nvGrpSpPr>
        <p:grpSpPr>
          <a:xfrm>
            <a:off x="9684858" y="9401025"/>
            <a:ext cx="8603142" cy="885975"/>
            <a:chOff x="0" y="0"/>
            <a:chExt cx="2265848" cy="1783996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16CD1D7-8103-F6D3-5A88-5309DA3E4346}"/>
                </a:ext>
              </a:extLst>
            </p:cNvPr>
            <p:cNvSpPr/>
            <p:nvPr/>
          </p:nvSpPr>
          <p:spPr>
            <a:xfrm>
              <a:off x="0" y="0"/>
              <a:ext cx="2265848" cy="1783996"/>
            </a:xfrm>
            <a:custGeom>
              <a:avLst/>
              <a:gdLst/>
              <a:ahLst/>
              <a:cxnLst/>
              <a:rect l="l" t="t" r="r" b="b"/>
              <a:pathLst>
                <a:path w="2265848" h="1783996">
                  <a:moveTo>
                    <a:pt x="0" y="0"/>
                  </a:moveTo>
                  <a:lnTo>
                    <a:pt x="2265848" y="0"/>
                  </a:lnTo>
                  <a:lnTo>
                    <a:pt x="2265848" y="1783996"/>
                  </a:lnTo>
                  <a:lnTo>
                    <a:pt x="0" y="1783996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5F1F42FC-7521-8983-1BBC-686391D3C74B}"/>
                </a:ext>
              </a:extLst>
            </p:cNvPr>
            <p:cNvSpPr txBox="1"/>
            <p:nvPr/>
          </p:nvSpPr>
          <p:spPr>
            <a:xfrm>
              <a:off x="0" y="-57150"/>
              <a:ext cx="2265848" cy="1841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E3A1882-560E-697F-1698-1C5817BF92B9}"/>
              </a:ext>
            </a:extLst>
          </p:cNvPr>
          <p:cNvSpPr txBox="1"/>
          <p:nvPr/>
        </p:nvSpPr>
        <p:spPr>
          <a:xfrm>
            <a:off x="992237" y="4953490"/>
            <a:ext cx="479896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 streamlined legal case management system to enhance efficiency and productivity.</a:t>
            </a:r>
            <a:endParaRPr lang="en-IN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6927A-A189-2A18-5A9E-EC0FC8FB11D4}"/>
              </a:ext>
            </a:extLst>
          </p:cNvPr>
          <p:cNvSpPr txBox="1"/>
          <p:nvPr/>
        </p:nvSpPr>
        <p:spPr>
          <a:xfrm>
            <a:off x="5791200" y="4965240"/>
            <a:ext cx="653191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Optimize case handling with scheduling, document management, security, and communication improvements.</a:t>
            </a:r>
            <a:endParaRPr lang="en-IN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CA982F-CC6A-7142-5A3B-EBA0961C185D}"/>
              </a:ext>
            </a:extLst>
          </p:cNvPr>
          <p:cNvSpPr txBox="1"/>
          <p:nvPr/>
        </p:nvSpPr>
        <p:spPr>
          <a:xfrm>
            <a:off x="12268200" y="4953490"/>
            <a:ext cx="5486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Implement role-based access and mobile-friendly interfaces for better management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83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4097412" y="0"/>
            <a:ext cx="4190588" cy="10287000"/>
            <a:chOff x="0" y="0"/>
            <a:chExt cx="110369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3694" cy="2709333"/>
            </a:xfrm>
            <a:custGeom>
              <a:avLst/>
              <a:gdLst/>
              <a:ahLst/>
              <a:cxnLst/>
              <a:rect l="l" t="t" r="r" b="b"/>
              <a:pathLst>
                <a:path w="1103694" h="2709333">
                  <a:moveTo>
                    <a:pt x="0" y="0"/>
                  </a:moveTo>
                  <a:lnTo>
                    <a:pt x="1103694" y="0"/>
                  </a:lnTo>
                  <a:lnTo>
                    <a:pt x="11036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036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3107" y="3058274"/>
            <a:ext cx="12374304" cy="6057152"/>
            <a:chOff x="0" y="-57150"/>
            <a:chExt cx="3259076" cy="15952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59076" cy="1538149"/>
            </a:xfrm>
            <a:custGeom>
              <a:avLst/>
              <a:gdLst/>
              <a:ahLst/>
              <a:cxnLst/>
              <a:rect l="l" t="t" r="r" b="b"/>
              <a:pathLst>
                <a:path w="3259076" h="1538149">
                  <a:moveTo>
                    <a:pt x="0" y="0"/>
                  </a:moveTo>
                  <a:lnTo>
                    <a:pt x="3259076" y="0"/>
                  </a:lnTo>
                  <a:lnTo>
                    <a:pt x="3259076" y="1538149"/>
                  </a:lnTo>
                  <a:lnTo>
                    <a:pt x="0" y="1538149"/>
                  </a:lnTo>
                  <a:close/>
                </a:path>
              </a:pathLst>
            </a:custGeom>
            <a:solidFill>
              <a:srgbClr val="22222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259076" cy="15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26850" y="3929599"/>
            <a:ext cx="11012949" cy="3750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Streamline case management </a:t>
            </a:r>
          </a:p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Scheduling of hearing of cases </a:t>
            </a:r>
          </a:p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Enhance document Management </a:t>
            </a:r>
          </a:p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communication </a:t>
            </a:r>
          </a:p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 compliance </a:t>
            </a:r>
          </a:p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Role based access</a:t>
            </a:r>
          </a:p>
          <a:p>
            <a:pPr marL="514350" indent="-514350" algn="l">
              <a:lnSpc>
                <a:spcPts val="4200"/>
              </a:lnSpc>
              <a:buAutoNum type="arabicPeriod"/>
            </a:pPr>
            <a:r>
              <a:rPr lang="en-US" sz="3200" spc="19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Increased Efficiency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530596" y="1943100"/>
            <a:ext cx="9922031" cy="998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 of Project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63E8C7B-893D-8D3C-9A53-4222A8785F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190232" y="739471"/>
            <a:ext cx="4561519" cy="10287000"/>
            <a:chOff x="0" y="0"/>
            <a:chExt cx="120138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01388" cy="2709333"/>
            </a:xfrm>
            <a:custGeom>
              <a:avLst/>
              <a:gdLst/>
              <a:ahLst/>
              <a:cxnLst/>
              <a:rect l="l" t="t" r="r" b="b"/>
              <a:pathLst>
                <a:path w="1201388" h="2709333">
                  <a:moveTo>
                    <a:pt x="0" y="0"/>
                  </a:moveTo>
                  <a:lnTo>
                    <a:pt x="1201388" y="0"/>
                  </a:lnTo>
                  <a:lnTo>
                    <a:pt x="12013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20138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15176" y="3032605"/>
            <a:ext cx="8848623" cy="6244743"/>
            <a:chOff x="0" y="0"/>
            <a:chExt cx="2265848" cy="17839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5848" cy="1783996"/>
            </a:xfrm>
            <a:custGeom>
              <a:avLst/>
              <a:gdLst/>
              <a:ahLst/>
              <a:cxnLst/>
              <a:rect l="l" t="t" r="r" b="b"/>
              <a:pathLst>
                <a:path w="2265848" h="1783996">
                  <a:moveTo>
                    <a:pt x="0" y="0"/>
                  </a:moveTo>
                  <a:lnTo>
                    <a:pt x="2265848" y="0"/>
                  </a:lnTo>
                  <a:lnTo>
                    <a:pt x="2265848" y="1783996"/>
                  </a:lnTo>
                  <a:lnTo>
                    <a:pt x="0" y="1783996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265848" cy="1841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545841" y="6268294"/>
            <a:ext cx="5040612" cy="39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1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AutoShape 30"/>
          <p:cNvSpPr/>
          <p:nvPr/>
        </p:nvSpPr>
        <p:spPr>
          <a:xfrm flipH="1">
            <a:off x="17240250" y="4803299"/>
            <a:ext cx="0" cy="3514512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31"/>
          <p:cNvSpPr/>
          <p:nvPr/>
        </p:nvSpPr>
        <p:spPr>
          <a:xfrm flipV="1">
            <a:off x="8355855" y="9277350"/>
            <a:ext cx="7846876" cy="0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EBB124D-F33B-0507-C582-2322316C19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232" y="0"/>
            <a:ext cx="18478232" cy="19431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AC468A3-2596-8F21-8FD3-1DDABA9D474F}"/>
              </a:ext>
            </a:extLst>
          </p:cNvPr>
          <p:cNvSpPr txBox="1"/>
          <p:nvPr/>
        </p:nvSpPr>
        <p:spPr>
          <a:xfrm>
            <a:off x="6629402" y="3224138"/>
            <a:ext cx="9378044" cy="537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Key features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Case creation and assignment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Hearing/meeting scheduling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Document management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Pre-trial settlement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Real time notifications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Case reporting and closure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82861A-EB17-FF64-1DB8-9E3381E09E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" y="-114300"/>
            <a:ext cx="18288000" cy="194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A15FFE-E753-EC5F-621E-D7CC6E99BC7F}"/>
              </a:ext>
            </a:extLst>
          </p:cNvPr>
          <p:cNvSpPr txBox="1"/>
          <p:nvPr/>
        </p:nvSpPr>
        <p:spPr>
          <a:xfrm>
            <a:off x="1219200" y="2095500"/>
            <a:ext cx="52645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Project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E7D6F-6956-83A7-F405-E694D0BEC4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3093438"/>
            <a:ext cx="8534400" cy="5922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7644CE-2353-0D3C-F0CA-E2D26FF9E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748" y="3093438"/>
            <a:ext cx="7910052" cy="592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1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F5BA46-5A12-C78C-0AEE-9F43215128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" y="-114300"/>
            <a:ext cx="18288000" cy="1943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C953AF-551C-E14C-568A-A68A0973E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22655"/>
            <a:ext cx="9858625" cy="8112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3ABA5-1CFE-D590-9CD1-08501171D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425" y="1822655"/>
            <a:ext cx="7438775" cy="787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B0146-FB92-93A2-99D0-3FAE3CF93C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" y="-114300"/>
            <a:ext cx="1828800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B72FB4-6558-4D1E-CF5A-8FFB7A9E8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47900"/>
            <a:ext cx="8552040" cy="68097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76776E-8F01-2E2B-E593-7E6BC6BF9D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626" y="2224548"/>
            <a:ext cx="8681357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2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685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6725" y="951310"/>
            <a:ext cx="9556551" cy="250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563"/>
              </a:lnSpc>
            </a:pPr>
            <a:r>
              <a:rPr lang="en-US" sz="5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Alignment with UN Sustainable Development Goals (SDGs)</a:t>
            </a:r>
            <a:endParaRPr lang="en-US" sz="5250" dirty="0"/>
          </a:p>
        </p:txBody>
      </p:sp>
      <p:sp>
        <p:nvSpPr>
          <p:cNvPr id="4" name="Shape 1"/>
          <p:cNvSpPr/>
          <p:nvPr/>
        </p:nvSpPr>
        <p:spPr>
          <a:xfrm>
            <a:off x="936724" y="3460553"/>
            <a:ext cx="4644479" cy="2790228"/>
          </a:xfrm>
          <a:prstGeom prst="roundRect">
            <a:avLst>
              <a:gd name="adj" fmla="val 1681"/>
            </a:avLst>
          </a:prstGeom>
          <a:solidFill>
            <a:srgbClr val="E0E0EC"/>
          </a:solidFill>
          <a:ln/>
        </p:spPr>
        <p:txBody>
          <a:bodyPr/>
          <a:lstStyle/>
          <a:p>
            <a:r>
              <a:rPr lang="en-US" sz="2800" b="1" dirty="0"/>
              <a:t>SDG 8: Decent Work and Economic Growth</a:t>
            </a:r>
            <a:r>
              <a:rPr lang="en-US" sz="2800" dirty="0"/>
              <a:t> - Promotes efficient legal processes that support economic development.</a:t>
            </a:r>
            <a:endParaRPr lang="en-IN" sz="2800" dirty="0"/>
          </a:p>
        </p:txBody>
      </p:sp>
      <p:sp>
        <p:nvSpPr>
          <p:cNvPr id="7" name="Shape 4"/>
          <p:cNvSpPr/>
          <p:nvPr/>
        </p:nvSpPr>
        <p:spPr>
          <a:xfrm>
            <a:off x="5848797" y="3460553"/>
            <a:ext cx="4514403" cy="2790228"/>
          </a:xfrm>
          <a:prstGeom prst="roundRect">
            <a:avLst>
              <a:gd name="adj" fmla="val 1681"/>
            </a:avLst>
          </a:prstGeom>
          <a:solidFill>
            <a:srgbClr val="E0E0EC"/>
          </a:solidFill>
          <a:ln/>
        </p:spPr>
        <p:txBody>
          <a:bodyPr/>
          <a:lstStyle/>
          <a:p>
            <a:r>
              <a:rPr lang="en-US" sz="2800" b="1" dirty="0"/>
              <a:t>SDG 9: Industry, Innovation, and Infrastructure</a:t>
            </a:r>
            <a:r>
              <a:rPr lang="en-US" sz="2800" dirty="0"/>
              <a:t> - Encourages technological advancements in legal infrastructure and case management.</a:t>
            </a:r>
            <a:endParaRPr lang="en-IN" sz="2800" dirty="0"/>
          </a:p>
        </p:txBody>
      </p:sp>
      <p:sp>
        <p:nvSpPr>
          <p:cNvPr id="8" name="Text 5"/>
          <p:cNvSpPr/>
          <p:nvPr/>
        </p:nvSpPr>
        <p:spPr>
          <a:xfrm>
            <a:off x="6116389" y="4129534"/>
            <a:ext cx="3942011" cy="81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936724" y="6518374"/>
            <a:ext cx="4644479" cy="2817168"/>
          </a:xfrm>
          <a:prstGeom prst="roundRect">
            <a:avLst>
              <a:gd name="adj" fmla="val 1425"/>
            </a:avLst>
          </a:prstGeom>
          <a:solidFill>
            <a:srgbClr val="E0E0EC"/>
          </a:solidFill>
          <a:ln/>
        </p:spPr>
        <p:txBody>
          <a:bodyPr/>
          <a:lstStyle/>
          <a:p>
            <a:r>
              <a:rPr lang="en-US" sz="3200" b="1" dirty="0"/>
              <a:t>SDG 10: Reduced Inequalities</a:t>
            </a:r>
            <a:r>
              <a:rPr lang="en-US" sz="3200" dirty="0"/>
              <a:t> - Aims to make legal services more accessible, reducing inequalities.</a:t>
            </a:r>
            <a:endParaRPr lang="en-IN" sz="3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18374"/>
            <a:ext cx="4644479" cy="2817168"/>
          </a:xfrm>
          <a:prstGeom prst="roundRect">
            <a:avLst>
              <a:gd name="adj" fmla="val 1425"/>
            </a:avLst>
          </a:prstGeom>
          <a:solidFill>
            <a:srgbClr val="E0E0EC"/>
          </a:solidFill>
          <a:ln/>
        </p:spPr>
        <p:txBody>
          <a:bodyPr/>
          <a:lstStyle/>
          <a:p>
            <a:r>
              <a:rPr lang="en-US" sz="3200" b="1" dirty="0"/>
              <a:t>SDG 16: Peace, Justice, and Strong Institutions</a:t>
            </a:r>
            <a:r>
              <a:rPr lang="en-US" sz="3200" dirty="0"/>
              <a:t> - Focuses on improving justice systems, ensuring strong legal institutions.</a:t>
            </a:r>
            <a:endParaRPr lang="en-IN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49161" y="26263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0829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>
            <a:off x="9422276" y="10234289"/>
            <a:ext cx="705873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62000" y="2374497"/>
            <a:ext cx="8057534" cy="998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Used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7759" y="2593361"/>
            <a:ext cx="6268674" cy="39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8288" lvl="1" algn="just">
              <a:lnSpc>
                <a:spcPts val="3220"/>
              </a:lnSpc>
            </a:pPr>
            <a:r>
              <a:rPr lang="en-US" sz="2300" spc="1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200" y="3633984"/>
            <a:ext cx="15240000" cy="3719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130300" algn="l"/>
                <a:tab pos="1130935" algn="l"/>
              </a:tabLs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Backend:</a:t>
            </a:r>
            <a:r>
              <a:rPr lang="en-US" sz="32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Node.js</a:t>
            </a:r>
            <a:r>
              <a:rPr lang="en-US" sz="32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(Express framework)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205"/>
              </a:spcBef>
              <a:buFont typeface="Wingdings" panose="05000000000000000000" pitchFamily="2" charset="2"/>
              <a:buChar char="Ø"/>
              <a:tabLst>
                <a:tab pos="1130300" algn="l"/>
                <a:tab pos="1130935" algn="l"/>
              </a:tabLs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Frontend:</a:t>
            </a:r>
            <a:r>
              <a:rPr lang="en-US" sz="32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React.js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195"/>
              </a:spcBef>
              <a:buFont typeface="Wingdings" panose="05000000000000000000" pitchFamily="2" charset="2"/>
              <a:buChar char="Ø"/>
              <a:tabLst>
                <a:tab pos="1130300" algn="l"/>
                <a:tab pos="1130935" algn="l"/>
              </a:tabLs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Database:</a:t>
            </a:r>
            <a:r>
              <a:rPr lang="en-US" sz="32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MongoDB</a:t>
            </a:r>
            <a:r>
              <a:rPr lang="en-US" sz="32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(NoSQL</a:t>
            </a:r>
            <a:r>
              <a:rPr lang="en-US" sz="32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database)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195"/>
              </a:spcBef>
              <a:buFont typeface="Wingdings" panose="05000000000000000000" pitchFamily="2" charset="2"/>
              <a:buChar char="Ø"/>
              <a:tabLst>
                <a:tab pos="1130300" algn="l"/>
                <a:tab pos="1130935" algn="l"/>
              </a:tabLst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Version</a:t>
            </a:r>
            <a:r>
              <a:rPr lang="en-US" sz="32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Control:</a:t>
            </a:r>
            <a:r>
              <a:rPr lang="en-US" sz="32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Git</a:t>
            </a:r>
          </a:p>
          <a:p>
            <a:pPr marL="914400" lvl="1" indent="-457200">
              <a:lnSpc>
                <a:spcPct val="150000"/>
              </a:lnSpc>
              <a:spcBef>
                <a:spcPts val="195"/>
              </a:spcBef>
              <a:buFont typeface="Wingdings" panose="05000000000000000000" pitchFamily="2" charset="2"/>
              <a:buChar char="Ø"/>
              <a:tabLst>
                <a:tab pos="1130300" algn="l"/>
                <a:tab pos="1130935" algn="l"/>
              </a:tabLs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Deployment Environment : Render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D0667A-167A-BD1D-0D01-919A594E81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5334000" y="1770102"/>
            <a:ext cx="8143355" cy="99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Flow Diagram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4CBA673-EC66-538A-0221-6A76599BE5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95FC2A-2E19-CF3E-88E6-E58BAC0153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1050"/>
            <a:ext cx="18288000" cy="71848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8D94-3E5F-54E2-56F6-4FD6DD63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C8F24C-C1EE-9A9E-660F-BBE3F4474E61}"/>
              </a:ext>
            </a:extLst>
          </p:cNvPr>
          <p:cNvSpPr/>
          <p:nvPr/>
        </p:nvSpPr>
        <p:spPr>
          <a:xfrm>
            <a:off x="12290" y="9666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1800">
                <a:solidFill>
                  <a:schemeClr val="bg1"/>
                </a:solidFill>
              </a:rPr>
              <a:t>Enhanced Case Organization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9542AA8-1E48-5D2E-A67E-2193BD2A58C6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495579E-1813-DC99-A5EE-3F16E63733B5}"/>
              </a:ext>
            </a:extLst>
          </p:cNvPr>
          <p:cNvSpPr/>
          <p:nvPr/>
        </p:nvSpPr>
        <p:spPr>
          <a:xfrm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B1A09C1-56B6-F29D-9425-560BD83128B5}"/>
              </a:ext>
            </a:extLst>
          </p:cNvPr>
          <p:cNvSpPr/>
          <p:nvPr/>
        </p:nvSpPr>
        <p:spPr>
          <a:xfrm>
            <a:off x="9144000" y="9277350"/>
            <a:ext cx="705873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668B3EA-0937-04D5-7476-527FE4B773F3}"/>
              </a:ext>
            </a:extLst>
          </p:cNvPr>
          <p:cNvSpPr/>
          <p:nvPr/>
        </p:nvSpPr>
        <p:spPr>
          <a:xfrm rot="5324316">
            <a:off x="10376480" y="2687237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17C8FC3-1A1E-964B-62B9-3E8FC508BD1E}"/>
              </a:ext>
            </a:extLst>
          </p:cNvPr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54C1450-15D4-31C4-AB34-03A1B115ED6B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FBF0307-F92F-E949-837D-4352EBE43257}"/>
                </a:ext>
              </a:extLst>
            </p:cNvPr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438BE84-E10D-B59B-168E-EF0A6DF2C2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97D28F-BC8F-5A09-F17D-087DF4DBBB09}"/>
              </a:ext>
            </a:extLst>
          </p:cNvPr>
          <p:cNvSpPr txBox="1"/>
          <p:nvPr/>
        </p:nvSpPr>
        <p:spPr>
          <a:xfrm>
            <a:off x="959586" y="3104132"/>
            <a:ext cx="152431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Enhanced Case Organization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Transparent Workflow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Real-Time Case Tracking</a:t>
            </a:r>
            <a:endParaRPr lang="en-IN" sz="2000" dirty="0">
              <a:solidFill>
                <a:schemeClr val="bg1"/>
              </a:solidFill>
            </a:endParaRP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Reduced Caseload Pressure</a:t>
            </a:r>
            <a:endParaRPr lang="en-IN" sz="2000" dirty="0">
              <a:solidFill>
                <a:schemeClr val="bg1"/>
              </a:solidFill>
            </a:endParaRP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Efficient Scheduling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Improved Document Access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5400" dirty="0">
                <a:solidFill>
                  <a:schemeClr val="bg1"/>
                </a:solidFill>
              </a:rPr>
              <a:t>Improved Productivity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9E426-1848-1626-030A-9D2D0FBF5AC7}"/>
              </a:ext>
            </a:extLst>
          </p:cNvPr>
          <p:cNvSpPr txBox="1"/>
          <p:nvPr/>
        </p:nvSpPr>
        <p:spPr>
          <a:xfrm>
            <a:off x="609601" y="2231431"/>
            <a:ext cx="746131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>
                <a:solidFill>
                  <a:schemeClr val="bg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Expected Outcomes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79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>
            <a:off x="9144000" y="9277350"/>
            <a:ext cx="705873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1000" y="2181633"/>
            <a:ext cx="5120479" cy="998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D0667A-167A-BD1D-0D01-919A594E81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458EC6-C475-DEA9-C3BC-77138A3F78B0}"/>
              </a:ext>
            </a:extLst>
          </p:cNvPr>
          <p:cNvSpPr txBox="1"/>
          <p:nvPr/>
        </p:nvSpPr>
        <p:spPr>
          <a:xfrm>
            <a:off x="381000" y="3364046"/>
            <a:ext cx="1627501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A. Baig, “The role of technology in enhancing access to justice: Challenges and opportunities in the 21st century,” </a:t>
            </a:r>
            <a:r>
              <a:rPr lang="en-US" sz="2000" i="1" dirty="0"/>
              <a:t>AL-AASAR Journal: Quarterly Research Journal</a:t>
            </a:r>
            <a:r>
              <a:rPr lang="en-US" sz="2000" dirty="0"/>
              <a:t>, vol. 2, no. 1, pp. 774–779, 2025.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 D. </a:t>
            </a:r>
            <a:r>
              <a:rPr lang="en-US" sz="2000" dirty="0" err="1"/>
              <a:t>Pitaloka</a:t>
            </a:r>
            <a:r>
              <a:rPr lang="en-US" sz="2000" dirty="0"/>
              <a:t>, “E-court: A digital disruption in law enforcement and its impact on judicial efficiency in Indonesia,” </a:t>
            </a:r>
            <a:r>
              <a:rPr lang="en-US" sz="2000" i="1" dirty="0"/>
              <a:t>Ex Aequo Et Bono Journal of Law (EAEBJOL)</a:t>
            </a:r>
            <a:r>
              <a:rPr lang="en-US" sz="2000" dirty="0"/>
              <a:t>, vol. 2, no. 2, pp. 82–95, 2025. </a:t>
            </a:r>
            <a:r>
              <a:rPr lang="en-US" sz="2000" dirty="0" err="1"/>
              <a:t>doi</a:t>
            </a:r>
            <a:r>
              <a:rPr lang="en-US" sz="2000" dirty="0"/>
              <a:t>: 10.61511/eaebjol.v2i2.2025.1404.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 D. </a:t>
            </a:r>
            <a:r>
              <a:rPr lang="en-US" sz="2000" dirty="0" err="1"/>
              <a:t>Putranti</a:t>
            </a:r>
            <a:r>
              <a:rPr lang="en-US" sz="2000" dirty="0"/>
              <a:t>, U. T. Putri, A. </a:t>
            </a:r>
            <a:r>
              <a:rPr lang="en-US" sz="2000" dirty="0" err="1"/>
              <a:t>Prahara</a:t>
            </a:r>
            <a:r>
              <a:rPr lang="en-US" sz="2000" dirty="0"/>
              <a:t>, and M. S. Quddus, “Proposing digital copyright infringements enforcement through Internet Court in Indonesia: Fostering the existing E-Court system,” </a:t>
            </a:r>
            <a:r>
              <a:rPr lang="en-US" sz="2000" i="1" dirty="0"/>
              <a:t>E3S Web of Conferences</a:t>
            </a:r>
            <a:r>
              <a:rPr lang="en-US" sz="2000" dirty="0"/>
              <a:t>, vol. 622, p. 03006, 2025. </a:t>
            </a:r>
            <a:r>
              <a:rPr lang="en-US" sz="2000" dirty="0" err="1"/>
              <a:t>doi</a:t>
            </a:r>
            <a:r>
              <a:rPr lang="en-US" sz="2000" dirty="0"/>
              <a:t>: 10.1051/e3sconf/202562203006.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CH. Prabhavati, A. Mounika, G. Devi Sri, K. Lahari, and K. V. Krishna, “Legal Connect: e-Portal for Facilitating Case Management Hearings of Various Types of Cases,” </a:t>
            </a:r>
            <a:r>
              <a:rPr lang="en-US" sz="2000" i="1" dirty="0"/>
              <a:t>Int. J. Eng. Sci. Adv. Technol. (IJESAT)</a:t>
            </a:r>
            <a:r>
              <a:rPr lang="en-US" sz="2000" dirty="0"/>
              <a:t>, vol. 24, no. 5, pp. 322–327, May 2024.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A. </a:t>
            </a:r>
            <a:r>
              <a:rPr lang="en-US" sz="2000" dirty="0" err="1"/>
              <a:t>Maralbaeva</a:t>
            </a:r>
            <a:r>
              <a:rPr lang="en-US" sz="2000" dirty="0"/>
              <a:t>, </a:t>
            </a:r>
            <a:r>
              <a:rPr lang="en-US" sz="2000" i="1" dirty="0"/>
              <a:t>E-justice and Cyber Security: Balancing between Openness of the Courts and Data Protection in Kyrgyzstan</a:t>
            </a:r>
            <a:r>
              <a:rPr lang="en-US" sz="2000" dirty="0"/>
              <a:t>. United Nations Development </a:t>
            </a:r>
            <a:r>
              <a:rPr lang="en-US" sz="2000" dirty="0" err="1"/>
              <a:t>Programme</a:t>
            </a:r>
            <a:r>
              <a:rPr lang="en-US" sz="2000" dirty="0"/>
              <a:t> (UNDP), 2022. [Online]. Available: Link.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R. K. Ahmed, O. Ahmed, I. Pappel, A. </a:t>
            </a:r>
            <a:r>
              <a:rPr lang="en-US" sz="2000" dirty="0" err="1"/>
              <a:t>Reitsakas</a:t>
            </a:r>
            <a:r>
              <a:rPr lang="en-US" sz="2000" dirty="0"/>
              <a:t>, and D. Draheim, “The role of digital transformation in fostering transparency: An e-Court system case study,” in </a:t>
            </a:r>
            <a:r>
              <a:rPr lang="en-US" sz="2000" i="1" dirty="0"/>
              <a:t>Lecture Notes in Computer Science</a:t>
            </a:r>
            <a:r>
              <a:rPr lang="en-US" sz="2000" dirty="0"/>
              <a:t>. Cham, Switzerland: Springer Nature, Sep. 2022, </a:t>
            </a:r>
            <a:r>
              <a:rPr lang="en-US" sz="2000" dirty="0" err="1"/>
              <a:t>doi</a:t>
            </a:r>
            <a:r>
              <a:rPr lang="en-US" sz="2000" dirty="0"/>
              <a:t>: 10.1007/978-3-031-15342-6_17.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C.-L. Lee, “E-justice in Taiwan: The derivative inquiries from constitutional perspectives in the digital age,” </a:t>
            </a:r>
            <a:r>
              <a:rPr lang="en-US" sz="2000" i="1" dirty="0" err="1"/>
              <a:t>Ritsumeikan</a:t>
            </a:r>
            <a:r>
              <a:rPr lang="en-US" sz="2000" i="1" dirty="0"/>
              <a:t> Law Rev.</a:t>
            </a:r>
            <a:r>
              <a:rPr lang="en-US" sz="2000" dirty="0"/>
              <a:t>, no. 40, pp. 55–67, 2022.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dirty="0"/>
              <a:t>B. G. S. </a:t>
            </a:r>
            <a:r>
              <a:rPr lang="en-US" sz="2000" dirty="0" err="1"/>
              <a:t>Grepon</a:t>
            </a:r>
            <a:r>
              <a:rPr lang="en-US" sz="2000" dirty="0"/>
              <a:t>, “Designing and implementing e-justice systems: An information systems approach to regional trial court case docket management in Northern Mindanao, Philippines,” </a:t>
            </a:r>
            <a:r>
              <a:rPr lang="en-US" sz="2000" i="1" dirty="0"/>
              <a:t>Int. J. </a:t>
            </a:r>
            <a:r>
              <a:rPr lang="en-US" sz="2000" i="1" dirty="0" err="1"/>
              <a:t>Multidiscip</a:t>
            </a:r>
            <a:r>
              <a:rPr lang="en-US" sz="2000" i="1" dirty="0"/>
              <a:t>. Acad. Res.</a:t>
            </a:r>
            <a:r>
              <a:rPr lang="en-US" sz="2000" dirty="0"/>
              <a:t>, vol. 8, no. 1, 2020.</a:t>
            </a:r>
          </a:p>
          <a:p>
            <a:br>
              <a:rPr lang="en-US" b="1" dirty="0"/>
            </a:b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73412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75683">
            <a:off x="-3331216" y="7818697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226005" y="7883216"/>
            <a:ext cx="1514312" cy="1301362"/>
            <a:chOff x="0" y="0"/>
            <a:chExt cx="812800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43585" y="2725087"/>
            <a:ext cx="8800830" cy="4836826"/>
            <a:chOff x="0" y="0"/>
            <a:chExt cx="2317914" cy="12738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17914" cy="1273897"/>
            </a:xfrm>
            <a:custGeom>
              <a:avLst/>
              <a:gdLst/>
              <a:ahLst/>
              <a:cxnLst/>
              <a:rect l="l" t="t" r="r" b="b"/>
              <a:pathLst>
                <a:path w="2317914" h="1273897">
                  <a:moveTo>
                    <a:pt x="0" y="0"/>
                  </a:moveTo>
                  <a:lnTo>
                    <a:pt x="2317914" y="0"/>
                  </a:lnTo>
                  <a:lnTo>
                    <a:pt x="2317914" y="1273897"/>
                  </a:lnTo>
                  <a:lnTo>
                    <a:pt x="0" y="12738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317914" cy="133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160480" y="2596174"/>
            <a:ext cx="9967041" cy="28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4"/>
              </a:lnSpc>
              <a:spcBef>
                <a:spcPct val="0"/>
              </a:spcBef>
            </a:pPr>
            <a:r>
              <a:rPr lang="en-US" sz="15696" b="1" spc="102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8898" y="4393888"/>
            <a:ext cx="11070203" cy="28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4"/>
              </a:lnSpc>
              <a:spcBef>
                <a:spcPct val="0"/>
              </a:spcBef>
            </a:pPr>
            <a:r>
              <a:rPr lang="en-US" sz="1569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998C3F3-B6F1-C206-DD6E-6C27322FB9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94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</TotalTime>
  <Words>809</Words>
  <Application>Microsoft Office PowerPoint</Application>
  <PresentationFormat>Custom</PresentationFormat>
  <Paragraphs>83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Poppins Medium</vt:lpstr>
      <vt:lpstr>Calibri Light</vt:lpstr>
      <vt:lpstr>Poppins</vt:lpstr>
      <vt:lpstr>Calibri</vt:lpstr>
      <vt:lpstr>Poppins Bold</vt:lpstr>
      <vt:lpstr>Arial</vt:lpstr>
      <vt:lpstr>Playfair Display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White Gray Modern Group Project Presentation</dc:title>
  <dc:creator>ankit</dc:creator>
  <cp:lastModifiedBy>Ankit Chaudhary</cp:lastModifiedBy>
  <cp:revision>23</cp:revision>
  <dcterms:created xsi:type="dcterms:W3CDTF">2006-08-16T00:00:00Z</dcterms:created>
  <dcterms:modified xsi:type="dcterms:W3CDTF">2025-08-26T07:06:06Z</dcterms:modified>
  <dc:identifier>DAGR8JWMtRc</dc:identifier>
</cp:coreProperties>
</file>